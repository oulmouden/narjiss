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7884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la vitrine au véritable outil de vente. Dossier de présentation à la direction de Narjiss Immobilière. Toutes les copies d’écran de ce document proviennent du site en ligne, tel qu’il fonctionne aujourd’hui. Ce que devient un bureau de vente Narjiss : le client et le conseiller regardent le même écran, ensemble.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L’essentiel en une page. narjiss point company n’est pas un nouveau site vitrine. C’est l’outil avec lequel Narjiss vend : le client y voit les logements réellement disponibles, vérifie le quartier par lui-même, visite en 360 degrés, parle à un conseiller en direct — et quand personne n’est disponible, une hôtesse virtuelle lui répond de vive voix, dans sa langue. Côté équipe, tout se met à jour depuis une administration, sans développeur, dans les quatre langues du site. Le site est en ligne et fonctionne aujourd’hui. Ce document explique ce qu’il change pour la vente, ce qu’il apporte au client, ce qu’il demande à l’entreprise, et pourquoi une borne tactile dans chaque agence en est le prolongement naturel.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choses que le site actuel et les publications Facebook ne peuvent pas faire. Montrer, à la minute, quels logements sont disponibles, optionnés, réservés ou vendus — 454 logements sont aujourd’hui dans la grille. Prouver ce qu’il y a autour du projet : pour la Résidence Al Jawhara, 77 commodités relevées une à une, dont 21 écoles et 15 pharmacies, avec leur distance. Faire visiter le projet, un appartement témoin et le bureau de vente en 360 degrés, depuis un téléphone, à l’autre bout du monde. Laisser une famille entière comparer et décider ensemble, chacun dans sa langue, sans se déplacer. Accompagner un client à distance en direct : le conseiller pilote l’écran du client et commente à la voix. Garder une trace exploitable de chaque contact : fiche client, sélection de logements, messages, suites données.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site actuel : narjiss immobilière point com. C’est une vitrine soignée : elle présente l’entreprise, ses valeurs et ses projets. Elle fait bien ce pour quoi elle a été conçue, et elle garde son utilité pour l’image de marque. Mais elle s’arrête là où commence la vente. Elle ne dit pas ce qui reste disponible, ne montre pas un logement précis, ne prouve pas le quartier, ne permet pas de visiter, et ne garde aucune trace du visiteur. Chaque mise à jour passe par un prestataire. narjiss immobilière point com — une vitrine : on y découvre l’entreprise, on n’y choisit pas un logement.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publications Facebook. Elles apportent de l’audience, et il faut les garder. Leurs limites sont connues de tous ceux qui vendent : une vidéo descend dans le fil et disparaît, une affirmation comme tout est à proximité ne se vérifie pas, un commentaire n’est pas un dossier client, et un même message ne parle qu’à une langue à la fois. Surtout, un contenu Facebook ne peut pas dire à un client ce qui est encore disponible ce matin. Ce n’est pas un choix entre les deux. Facebook fait venir ; narjiss point company transforme la visite en décision, et garde la trace.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que vit le client, en cinq temps : 1. Il découvre, 2. Il vérifie le quartier — et c’est décisif, 3. Il visite, 4. Il choisit son logement, 5. Il décide en famille, même à distance.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Il découvre. Une page d’accueil, douze projets, une carte du Maroc. Le visiteur choisit sa langue en haut à droite — français, anglais, arabe, espagnol — et tout le site suit, y compris l’arabe écrit de droite à gauche. L’accueil : les projets, la carte globale, la démonstration guidée, et les quatre langues.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Il vérifie le quartier — et c’est décisif. La première question d’un acheteur n’est pas le prix, c’est : qu’est-ce qu’il y a autour ? . Une vidéo qui affirme tout est à proximité demande de la confiance. Une carte qui nomme 21 écoles, 15 pharmacies, 7 lignes de transport et 7 mosquées, avec la distance de chacune depuis le projet, n’en demande aucune. Le client filtre par catégorie, trie par distance, ouvre l’itinéraire, se l’envoie sur WhatsApp. Il n’a pas à nous croire : il vérifie. Résidence Al Jawhara : 77 points d’intérêt relevés un par un, filtrables et mesurables. Plus de 900 commodités sont cartographiées sur l’ensemble des projets.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Il visite. Visite 360 degrés du projet, appartement témoin, plan d’architecte et plan commercial superposables, vidéos, album photo. Le client tourne la tête au doigt sur son téléphone, ou en grand sur la borne de l’agence. La fiche projet : la visite 360 degrés occupe l’écran, les autres médias sont à un clic.</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 Il choisit son logement. C’est le cœur de l’outil, et c’est ce qu’aucun site vitrine ne fait. La grille de commercialisation — celle qui vit aujourd’hui dans un fichier Excel — devient un plan que le client manipule : immeuble par immeuble, étage par étage, avec le statut de chaque logement, sa surface, son orientation et son prix. Il filtre selon ses critères, retient jusqu’à trois logements, les compare, puis envoie sa sélection. Le conseiller le rappelle avec ces logements sous les yeux. Le plan de masse, immeuble par immeuble, avec le nombre de logements encore disponibles. Quatre statuts, les mêmes couleurs qu’au bureau de vente.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Il décide en famille, même à distance. Un lien suffit à partager une sélection. Le fils à Casablanca, le père à Agadir et l’oncle à Bruxelles voient le même plan, la même visite, la même carte — chacun dans sa langue. C’est exactement la situation d’un Marocain résidant à l’étranger qui achète pour sa famille : jusqu’ici, il achetait sur parole et sur photos.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visite guidée en direct. Le conseiller ouvre une visite, communique un code à six chiffres, et le client le saisit depuis chez lui. À partir de cet instant, l’écran du client suit celui du conseiller : changement de page, déplacement sur la carte, rotation dans une visite 360 degrés, tracé au doigt sur un plan. La voix passe dans le même canal. Concrètement : le conseiller entoure un lot sur la carte, mesure la distance jusqu’à l’école, et le client voit le trait se dessiner sur son propre écran, en direct.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L’hôtesse virtuelle, quand personne n’est là. Le soir, le week-end, ou quand un client appelle depuis Montréal à trois heures du matin, une hôtesse virtuelle prend le relais. Elle parle de vive voix — darija, arabe classique, français, anglais, espagnol — répond aux questions courantes, oriente vers le bon projet, prend le message et les coordonnées. Le lendemain matin, le commercial retrouve le message dans son espace, avec la transcription et le numéro : il rappelle en connaissant déjà la demande. Aucun appel ne tombe dans le vide. Le bureau de vente en visite virtuelle, avec le bouton Parler à l’hôtesse . Le client pousse la porte avant de se déplacer.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L’espace commercial. Chaque conseiller dispose de son espace : il s’y déclare présent, reçoit les demandes des visiteurs orientés par l’hôtesse, y trouve les messages vocaux et écrits laissés en son absence, et peut y monter lui-même une visite 360 degrés à partir de ses photos, sans logiciel à installer. L’espace commercial en arabe : depuis août 2026, l’interface de travail est traduite dans les quatre langues, sens de lecture compris.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L’administration. Tout ce que voit le client se pilote depuis une administration, sans toucher au code : projets et descriptions dans les quatre langues, photos, vidéos, visites 360 degrés, points d’intérêt, zones cliquables des plans, fiches clients, comptes des conseillers. La grille des lots s’importe depuis le fichier Excel du promoteur ; un changement de statut se fait en un clic et se voit immédiatement sur le site. Mettre à jour une disponibilité prend quelques secondes, pas un appel à un prestataire. La grille de commercialisation dans l’administration, en arabe : 130 logements, statuts et prix modifiables en un clic.</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fiche client. Le formulaire papier devient un écran. Le conseiller photographie le dos de la carte nationale : le nom, le prénom, le numéro et la validité se remplissent seuls. La fiche arrive rattachée aux logements que le client avait retenus, et les pièces d’identité sont rangées hors du site, dans un coffre privé sur le serveur. La fiche de renseignement, en français et en arabe, avec lecture automatique de la carte nationale.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bornes tactiles en agence. Tout ce qui précède fonctionne déjà sur un téléphone et sur un ordinateur. La borne tactile ajoute ce qu’aucun écran personnel ne donne : deux personnes debout devant le même plan, à taille réelle, dans l’agence.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que la borne apporte. Le client manipule le plan lui-même ; le conseiller commente à côté de lui, au lieu de retourner un écran d’ordinateur. La carte du quartier se parcourt au doigt, l’école se pointe du doigt, la distance s’affiche. La visite 360 degrés occupe tout l’écran : on regarde l’appartement, on ne regarde plus une brochure. Le logement se choisit sur place, avec le statut réel, et la fiche client se remplit dans la foulée par lecture de la carte nationale. L’attente à l’accueil devient du temps utile : le visiteur explore seul pendant que le conseiller termine un rendez-vous.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qu’elle remplace. Les brochures imprimées qui vieillissent, les plans papier annotés au crayon, le tableau des disponibilités qu’il faut corriger à la main, et la phrase que tout acheteur a déjà entendue : je vous rappelle avec les disponibilités . Une borne à l’accueil de chaque agence, une table tactile au bureau de vente principal : le même site, en grand.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qu’il faut prévoir. Un écran tactile de 43 à 55 pouces avec ordinateur intégré, ou une table tactile pour le bureau de vente principal. Le navigateur ouvert en mode kiosque sur narjiss point company : aucune installation, aucun logiciel spécifique, aucune maintenance logicielle. Une connexion internet et un point électrique. Le site est déjà conçu pour le tactile : cibles larges, aucune action au survol, contrastes lisibles à deux mètres. Le devis matériel est à demander auprès de fournisseurs locaux ; nous n’avançons ici aucun chiffre que nous n’aurions pas vérifié.</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Comparaison honnête. Trois canaux, trois rôles. Le tableau ne dit pas qu’il faut abandonner les deux premiers, mais où chacun s’arrête. Présenter l’entreprise : Oui, Oui, Oui. Faire venir du public : Peu, Oui, c’est sa force, Oui, par le référencement. Disponibilités à la minute : Non, Non, Oui — 454 logements suivis. Prix et surfaces par logement : Non, Non, Oui, ou prix sur demande au choix. Prouver le quartier : Non, Affirmé, non vérifiable, Oui — 900 commodités cartographiées. Visite 360 degrés : Non, Vidéo linéaire, Oui, le visiteur dirige le regard. Choisir un logement précis : Non, Non, Oui, sur le plan de masse. Quatre langues : Partiellement, Une par publication, Oui, tout le site et l’administration. Conseiller à distance : Non, Messages différés, Oui, visite guidée avec la voix. Hors horaires : Non, Non, Oui, hôtesse vocale en 5 langues. Trace du contact : Formulaire simple, Commentaires épars, Fiche client, sélection, messages, suites. Mise à jour : Par prestataire, Nouvelle publication, Par l’équipe, en quelques minutes.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gains attendus. Le client arrive informé : l’entretien porte sur sa décision, plus sur la description du projet. Moins de déplacements pour rien, dans les deux sens : le client sait ce qui reste, le conseiller sait ce que le client a regardé. Les familles éloignées et les Marocains résidant à l’étranger participent vraiment au choix. Chaque contact laisse une trace exploitable, y compris hors horaires. Une image d’entreprise à la hauteur des projets, et le même discours dans les quatre langues, quel que soit l’interlocuteur.</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conditions de réussite — disons-les clairement. La grille des lots doit rester à jour. C’est la condition numéro un : un site qui annonce disponible un logement vendu abîme la confiance plus qu’une brochure périmée. Chaque nouveau projet demande ses photos 360 degrés : une demi-journée de prises de vue par bureau de vente et par appartement témoin. Une personne doit être désignée pour valider les comptes des conseillers et surveiller les messages laissés hors horaires. Les bornes demandent un budget matériel et une installation par agence. La prise en main tient en une à deux heures par équipe : les écrans sont ceux que les conseillers connaissent déjà côté client.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ligne et opérationnel aujourd’hui. Le site public dans les quatre langues : 12 projets, fiches détaillées, carte globale, cartes de quartier, albums photos et vidéos. Les visites 360 degrés : projet, appartement témoin et bureau de vente pour la Résidence Al Jawhara. La grille de commercialisation : 454 logements, filtres, plans de masse, statuts et prix. La fiche de renseignement client avec lecture de la carte nationale, enregistrée en base, pièces d’identité dans un coffre hors du site. La visite guidée en direct avec la voix, et l’hôtesse virtuelle vocale. L’espace commercial et l’administration complète. L’hébergement sur serveur privé, avec mise en ligne en une commande et sauvegarde avant chaque modification de contenu.</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Terminé ces derniers jours, prêt à être mis en ligne. La synchronisation des tracés et des mesures pendant une visite guidée : ce que le conseiller dessine sur la carte apparaît chez le client. L’espace commercial et toute l’administration traduits dans les quatre langues, arabe compris, sens de lecture inversé.</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qui reste à décider ou à produire. Les bornes tactiles : choix du matériel, agences pilotes. Les visites 360 degrés des onze autres projets, et les vidéos qui manquent. Le rythme de mise à jour de la grille des lots, et la personne qui en répond.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Trois prochaines étapes. Une démonstration d’une heure en agence, sur un cas réel : un client qui cherche un F3 à Dcheira, du premier clic à la fiche remplie. Une agence pilote équipée d’une borne, et un deuxième projet complété en 360 degrés pour vérifier le coût réel d’un projet. Une règle de mise à jour de la grille des lots — chaque semaine, par une personne nommée — et la mise en ligne des traductions du back-office.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site est visible dès maintenant : narjiss point company. Le menu Démo déroule la présentation commerciale en quatre actes, telle qu’un conseiller peut la conduire devant un client. Un document illustré complémentaire, Ce que le site sait faire , détaille écran par écran l’ensemble des fonctions.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2.png"/><Relationship Id="rId5" Type="http://schemas.openxmlformats.org/officeDocument/2006/relationships/image" Target="../media/image3.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2.png"/><Relationship Id="rId5"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2.png"/><Relationship Id="rId5"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2.png"/><Relationship Id="rId5"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png"/><Relationship Id="rId5" Type="http://schemas.openxmlformats.org/officeDocument/2006/relationships/image" Target="../media/image7.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png"/><Relationship Id="rId5" Type="http://schemas.openxmlformats.org/officeDocument/2006/relationships/image" Target="../media/image8.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2.png"/><Relationship Id="rId5" Type="http://schemas.openxmlformats.org/officeDocument/2006/relationships/image" Target="../media/image9.jp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2.png"/><Relationship Id="rId5" Type="http://schemas.openxmlformats.org/officeDocument/2006/relationships/image" Target="../media/image10.jp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2.png"/><Relationship Id="rId5" Type="http://schemas.openxmlformats.org/officeDocument/2006/relationships/image" Target="../media/image11.jp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1.mp3"/><Relationship Id="rId1" Type="http://schemas.microsoft.com/office/2007/relationships/media" Target="../media/media21.mp3"/><Relationship Id="rId5"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2.mp3"/><Relationship Id="rId1" Type="http://schemas.microsoft.com/office/2007/relationships/media" Target="../media/media22.mp3"/><Relationship Id="rId5"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4.mp3"/><Relationship Id="rId1" Type="http://schemas.microsoft.com/office/2007/relationships/media" Target="../media/media24.mp3"/><Relationship Id="rId5"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5.mp3"/><Relationship Id="rId1" Type="http://schemas.microsoft.com/office/2007/relationships/media" Target="../media/media25.mp3"/><Relationship Id="rId5"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6.mp3"/><Relationship Id="rId1" Type="http://schemas.microsoft.com/office/2007/relationships/media" Target="../media/media26.mp3"/><Relationship Id="rId5"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7.mp3"/><Relationship Id="rId1" Type="http://schemas.microsoft.com/office/2007/relationships/media" Target="../media/media27.mp3"/><Relationship Id="rId5"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8.mp3"/><Relationship Id="rId1" Type="http://schemas.microsoft.com/office/2007/relationships/media" Target="../media/media28.mp3"/><Relationship Id="rId5" Type="http://schemas.openxmlformats.org/officeDocument/2006/relationships/image" Target="../media/image2.png"/><Relationship Id="rId4"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21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246197b459c9075f42c60ca07aa488d72b5e6020.jpg"/>
          <p:cNvPicPr>
            <a:picLocks noChangeAspect="1"/>
          </p:cNvPicPr>
          <p:nvPr/>
        </p:nvPicPr>
        <p:blipFill>
          <a:blip r:embed="rId5"/>
          <a:srcRect l="26001" r="26001"/>
          <a:stretch>
            <a:fillRect/>
          </a:stretch>
        </p:blipFill>
        <p:spPr>
          <a:xfrm>
            <a:off x="6339681" y="0"/>
            <a:ext cx="5852014" cy="6858000"/>
          </a:xfrm>
          <a:prstGeom prst="rect">
            <a:avLst/>
          </a:prstGeom>
        </p:spPr>
      </p:pic>
      <p:sp>
        <p:nvSpPr>
          <p:cNvPr id="4" name="TextBox 3"/>
          <p:cNvSpPr txBox="1"/>
          <p:nvPr/>
        </p:nvSpPr>
        <p:spPr>
          <a:xfrm>
            <a:off x="868680" y="1417320"/>
            <a:ext cx="4968081" cy="365760"/>
          </a:xfrm>
          <a:prstGeom prst="rect">
            <a:avLst/>
          </a:prstGeom>
          <a:noFill/>
        </p:spPr>
        <p:txBody>
          <a:bodyPr wrap="square" lIns="0" tIns="0" rIns="0" bIns="0">
            <a:spAutoFit/>
          </a:bodyPr>
          <a:lstStyle/>
          <a:p>
            <a:pPr rtl="0">
              <a:lnSpc>
                <a:spcPct val="115000"/>
              </a:lnSpc>
            </a:pPr>
            <a:r>
              <a:rPr sz="1300" b="1" i="0" spc="260">
                <a:solidFill>
                  <a:srgbClr val="BD6B16"/>
                </a:solidFill>
                <a:latin typeface="Calibri"/>
              </a:rPr>
              <a:t>narjiss.company</a:t>
            </a:r>
          </a:p>
        </p:txBody>
      </p:sp>
      <p:sp>
        <p:nvSpPr>
          <p:cNvPr id="5" name="TextBox 4"/>
          <p:cNvSpPr txBox="1"/>
          <p:nvPr/>
        </p:nvSpPr>
        <p:spPr>
          <a:xfrm>
            <a:off x="868680" y="2057400"/>
            <a:ext cx="4968081" cy="2011680"/>
          </a:xfrm>
          <a:prstGeom prst="rect">
            <a:avLst/>
          </a:prstGeom>
          <a:noFill/>
        </p:spPr>
        <p:txBody>
          <a:bodyPr wrap="square" lIns="0" tIns="0" rIns="0" bIns="0">
            <a:spAutoFit/>
          </a:bodyPr>
          <a:lstStyle/>
          <a:p>
            <a:pPr rtl="0">
              <a:lnSpc>
                <a:spcPct val="112000"/>
              </a:lnSpc>
            </a:pPr>
            <a:r>
              <a:rPr sz="3800" b="0" i="0">
                <a:solidFill>
                  <a:srgbClr val="FFFFFF"/>
                </a:solidFill>
                <a:latin typeface="Georgia"/>
              </a:rPr>
              <a:t>De la vitrine au véritable outil de vente</a:t>
            </a:r>
          </a:p>
        </p:txBody>
      </p:sp>
      <p:sp>
        <p:nvSpPr>
          <p:cNvPr id="6" name="Rectangle 5"/>
          <p:cNvSpPr/>
          <p:nvPr/>
        </p:nvSpPr>
        <p:spPr>
          <a:xfrm>
            <a:off x="868680" y="4160520"/>
            <a:ext cx="128016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4572000"/>
            <a:ext cx="4968081" cy="1097280"/>
          </a:xfrm>
          <a:prstGeom prst="rect">
            <a:avLst/>
          </a:prstGeom>
          <a:noFill/>
        </p:spPr>
        <p:txBody>
          <a:bodyPr wrap="square" lIns="0" tIns="0" rIns="0" bIns="0">
            <a:spAutoFit/>
          </a:bodyPr>
          <a:lstStyle/>
          <a:p>
            <a:pPr rtl="0">
              <a:lnSpc>
                <a:spcPct val="115000"/>
              </a:lnSpc>
            </a:pPr>
            <a:r>
              <a:rPr sz="1500" b="0" i="0">
                <a:solidFill>
                  <a:srgbClr val="C9CEC9"/>
                </a:solidFill>
                <a:latin typeface="Calibri"/>
              </a:rPr>
              <a:t>Dossier de présentation à la direction de Narjiss Immobilière</a:t>
            </a:r>
          </a:p>
          <a:p>
            <a:pPr rtl="0">
              <a:lnSpc>
                <a:spcPct val="115000"/>
              </a:lnSpc>
              <a:spcBef>
                <a:spcPts val="800"/>
              </a:spcBef>
            </a:pPr>
            <a:r>
              <a:rPr sz="1500" b="0" i="0">
                <a:solidFill>
                  <a:srgbClr val="C9CEC9"/>
                </a:solidFill>
                <a:latin typeface="Calibri"/>
              </a:rPr>
              <a:t>Août 2026</a:t>
            </a:r>
          </a:p>
        </p:txBody>
      </p:sp>
      <p:pic>
        <p:nvPicPr>
          <p:cNvPr id="8" name="diapo-01-ce38b88aa9">
            <a:hlinkClick r:id="" action="ppaction://media"/>
            <a:extLst>
              <a:ext uri="{FF2B5EF4-FFF2-40B4-BE49-F238E27FC236}">
                <a16:creationId xmlns:a16="http://schemas.microsoft.com/office/drawing/2014/main" id="{E1CD3C1A-C5E6-9190-26F6-FC1A50F7367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4000"/>
    </mc:Choice>
    <mc:Fallback>
      <p:transition spd="slow" advTm="2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84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9174175"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L’essentiel en une page</a:t>
            </a:r>
          </a:p>
        </p:txBody>
      </p:sp>
      <p:sp>
        <p:nvSpPr>
          <p:cNvPr id="4" name="Rectangle 3"/>
          <p:cNvSpPr/>
          <p:nvPr/>
        </p:nvSpPr>
        <p:spPr>
          <a:xfrm>
            <a:off x="777240" y="1271016"/>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655064"/>
            <a:ext cx="9174175" cy="4288536"/>
          </a:xfrm>
          <a:prstGeom prst="rect">
            <a:avLst/>
          </a:prstGeom>
          <a:noFill/>
        </p:spPr>
        <p:txBody>
          <a:bodyPr wrap="square" lIns="0" tIns="0" rIns="0" bIns="0">
            <a:spAutoFit/>
          </a:bodyPr>
          <a:lstStyle/>
          <a:p>
            <a:pPr rtl="0">
              <a:lnSpc>
                <a:spcPct val="142000"/>
              </a:lnSpc>
            </a:pPr>
            <a:r>
              <a:rPr sz="1600" b="0" i="0">
                <a:solidFill>
                  <a:srgbClr val="16211C"/>
                </a:solidFill>
                <a:latin typeface="Calibri"/>
              </a:rPr>
              <a:t>narjiss.company n’est pas un nouveau site vitrine. C’est l’outil avec lequel Narjiss vend : le client y voit les logements réellement disponibles, vérifie le quartier par lui-même, visite en 360°, parle à un conseiller en direct — et quand personne n’est disponible, une hôtesse virtuelle lui répond de vive voix, dans sa langue.</a:t>
            </a:r>
          </a:p>
          <a:p>
            <a:pPr rtl="0">
              <a:lnSpc>
                <a:spcPct val="142000"/>
              </a:lnSpc>
              <a:spcBef>
                <a:spcPts val="1200"/>
              </a:spcBef>
            </a:pPr>
            <a:r>
              <a:rPr sz="1600" b="0" i="0">
                <a:solidFill>
                  <a:srgbClr val="16211C"/>
                </a:solidFill>
                <a:latin typeface="Calibri"/>
              </a:rPr>
              <a:t>Le site est en ligne et fonctionne aujourd’hui. Ce document explique ce qu’il change pour la vente, ce qu’il apporte au client, ce qu’il demande à l’entreprise, et pourquoi une borne tactile dans chaque agence en est le prolongement naturel.</a:t>
            </a:r>
          </a:p>
        </p:txBody>
      </p:sp>
      <p:sp>
        <p:nvSpPr>
          <p:cNvPr id="6" name="Rectangle 5"/>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2</a:t>
            </a:r>
          </a:p>
        </p:txBody>
      </p:sp>
      <p:pic>
        <p:nvPicPr>
          <p:cNvPr id="8" name="diapo-02-832143f03f">
            <a:hlinkClick r:id="" action="ppaction://media"/>
            <a:extLst>
              <a:ext uri="{FF2B5EF4-FFF2-40B4-BE49-F238E27FC236}">
                <a16:creationId xmlns:a16="http://schemas.microsoft.com/office/drawing/2014/main" id="{F08BBB60-61CB-D01C-8FEF-41542FF31E8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700"/>
    </mc:Choice>
    <mc:Fallback>
      <p:transition spd="slow" advTm="47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51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9539935"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L’ESSENTIEL EN UNE PAGE</a:t>
            </a:r>
          </a:p>
        </p:txBody>
      </p:sp>
      <p:sp>
        <p:nvSpPr>
          <p:cNvPr id="4" name="TextBox 3"/>
          <p:cNvSpPr txBox="1"/>
          <p:nvPr/>
        </p:nvSpPr>
        <p:spPr>
          <a:xfrm>
            <a:off x="777240" y="1106424"/>
            <a:ext cx="9539935"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Six choses que le site actuel et les publications Facebook ne peuvent pas faire</a:t>
            </a:r>
          </a:p>
        </p:txBody>
      </p:sp>
      <p:sp>
        <p:nvSpPr>
          <p:cNvPr id="5" name="Rectangle 4"/>
          <p:cNvSpPr/>
          <p:nvPr/>
        </p:nvSpPr>
        <p:spPr>
          <a:xfrm>
            <a:off x="777240" y="21488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532888"/>
            <a:ext cx="9539935" cy="3410712"/>
          </a:xfrm>
          <a:prstGeom prst="rect">
            <a:avLst/>
          </a:prstGeom>
          <a:noFill/>
        </p:spPr>
        <p:txBody>
          <a:bodyPr wrap="square" lIns="0" tIns="0" rIns="0" bIns="0">
            <a:spAutoFit/>
          </a:bodyPr>
          <a:lstStyle/>
          <a:p>
            <a:pPr marL="236220" indent="-236220" rtl="0">
              <a:lnSpc>
                <a:spcPct val="135000"/>
              </a:lnSpc>
              <a:buClr>
                <a:srgbClr val="BD6B16"/>
              </a:buClr>
              <a:buSzPct val="90000"/>
              <a:buFont typeface="Arial"/>
              <a:buChar char="▪"/>
            </a:pPr>
            <a:r>
              <a:rPr sz="1400" b="0" i="0">
                <a:solidFill>
                  <a:srgbClr val="16211C"/>
                </a:solidFill>
                <a:latin typeface="Calibri"/>
              </a:rPr>
              <a:t>Montrer, à la minute, quels logements sont disponibles, optionnés, réservés ou vendus — 454 logements sont aujourd’hui dans la grille.</a:t>
            </a:r>
          </a:p>
          <a:p>
            <a:pPr marL="236220" indent="-236220" rtl="0">
              <a:lnSpc>
                <a:spcPct val="135000"/>
              </a:lnSpc>
              <a:spcBef>
                <a:spcPts val="1300"/>
              </a:spcBef>
              <a:buClr>
                <a:srgbClr val="BD6B16"/>
              </a:buClr>
              <a:buSzPct val="90000"/>
              <a:buFont typeface="Arial"/>
              <a:buChar char="▪"/>
            </a:pPr>
            <a:r>
              <a:rPr sz="1400" b="0" i="0">
                <a:solidFill>
                  <a:srgbClr val="16211C"/>
                </a:solidFill>
                <a:latin typeface="Calibri"/>
              </a:rPr>
              <a:t>Prouver ce qu’il y a autour du projet : pour la Résidence Al Jawhara, 77 commodités relevées une à une, dont 21 écoles et 15 pharmacies, avec leur distance.</a:t>
            </a:r>
          </a:p>
          <a:p>
            <a:pPr marL="236220" indent="-236220" rtl="0">
              <a:lnSpc>
                <a:spcPct val="135000"/>
              </a:lnSpc>
              <a:spcBef>
                <a:spcPts val="1300"/>
              </a:spcBef>
              <a:buClr>
                <a:srgbClr val="BD6B16"/>
              </a:buClr>
              <a:buSzPct val="90000"/>
              <a:buFont typeface="Arial"/>
              <a:buChar char="▪"/>
            </a:pPr>
            <a:r>
              <a:rPr sz="1400" b="0" i="0">
                <a:solidFill>
                  <a:srgbClr val="16211C"/>
                </a:solidFill>
                <a:latin typeface="Calibri"/>
              </a:rPr>
              <a:t>Faire visiter le projet, un appartement témoin et le bureau de vente en 360°, depuis un téléphone, à l’autre bout du monde.</a:t>
            </a:r>
          </a:p>
          <a:p>
            <a:pPr marL="236220" indent="-236220" rtl="0">
              <a:lnSpc>
                <a:spcPct val="135000"/>
              </a:lnSpc>
              <a:spcBef>
                <a:spcPts val="1300"/>
              </a:spcBef>
              <a:buClr>
                <a:srgbClr val="BD6B16"/>
              </a:buClr>
              <a:buSzPct val="90000"/>
              <a:buFont typeface="Arial"/>
              <a:buChar char="▪"/>
            </a:pPr>
            <a:r>
              <a:rPr sz="1400" b="0" i="0">
                <a:solidFill>
                  <a:srgbClr val="16211C"/>
                </a:solidFill>
                <a:latin typeface="Calibri"/>
              </a:rPr>
              <a:t>Laisser une famille entière comparer et décider ensemble, chacun dans sa langue, sans se déplacer.</a:t>
            </a:r>
          </a:p>
          <a:p>
            <a:pPr marL="236220" indent="-236220" rtl="0">
              <a:lnSpc>
                <a:spcPct val="135000"/>
              </a:lnSpc>
              <a:spcBef>
                <a:spcPts val="1300"/>
              </a:spcBef>
              <a:buClr>
                <a:srgbClr val="BD6B16"/>
              </a:buClr>
              <a:buSzPct val="90000"/>
              <a:buFont typeface="Arial"/>
              <a:buChar char="▪"/>
            </a:pPr>
            <a:r>
              <a:rPr sz="1400" b="0" i="0">
                <a:solidFill>
                  <a:srgbClr val="16211C"/>
                </a:solidFill>
                <a:latin typeface="Calibri"/>
              </a:rPr>
              <a:t>Accompagner un client à distance en direct : le conseiller pilote l’écran du client et commente à la voix.</a:t>
            </a:r>
          </a:p>
          <a:p>
            <a:pPr marL="236220" indent="-236220" rtl="0">
              <a:lnSpc>
                <a:spcPct val="135000"/>
              </a:lnSpc>
              <a:spcBef>
                <a:spcPts val="1300"/>
              </a:spcBef>
              <a:buClr>
                <a:srgbClr val="BD6B16"/>
              </a:buClr>
              <a:buSzPct val="90000"/>
              <a:buFont typeface="Arial"/>
              <a:buChar char="▪"/>
            </a:pPr>
            <a:r>
              <a:rPr sz="1400" b="0" i="0">
                <a:solidFill>
                  <a:srgbClr val="16211C"/>
                </a:solidFill>
                <a:latin typeface="Calibri"/>
              </a:rPr>
              <a:t>Garder une trace exploitable de chaque contact : fiche client, sélection de logements, messages, suites données.</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3</a:t>
            </a:r>
          </a:p>
        </p:txBody>
      </p:sp>
      <p:pic>
        <p:nvPicPr>
          <p:cNvPr id="9" name="diapo-03-f686e51d5c">
            <a:hlinkClick r:id="" action="ppaction://media"/>
            <a:extLst>
              <a:ext uri="{FF2B5EF4-FFF2-40B4-BE49-F238E27FC236}">
                <a16:creationId xmlns:a16="http://schemas.microsoft.com/office/drawing/2014/main" id="{597FE922-21BD-26E0-5BCA-283A1B44F4D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1500"/>
    </mc:Choice>
    <mc:Fallback>
      <p:transition spd="slow" advTm="61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264"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4480560"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OÙ EN SOMMES-NOUS AUJOURD’HUI</a:t>
            </a:r>
          </a:p>
        </p:txBody>
      </p:sp>
      <p:sp>
        <p:nvSpPr>
          <p:cNvPr id="4" name="TextBox 3"/>
          <p:cNvSpPr txBox="1"/>
          <p:nvPr/>
        </p:nvSpPr>
        <p:spPr>
          <a:xfrm>
            <a:off x="777240" y="1106424"/>
            <a:ext cx="4480560"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Le site actuel : narjissimmobiliere.com</a:t>
            </a:r>
          </a:p>
        </p:txBody>
      </p:sp>
      <p:sp>
        <p:nvSpPr>
          <p:cNvPr id="5" name="Rectangle 4"/>
          <p:cNvSpPr/>
          <p:nvPr/>
        </p:nvSpPr>
        <p:spPr>
          <a:xfrm>
            <a:off x="777240" y="21488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532888"/>
            <a:ext cx="4480560" cy="3410712"/>
          </a:xfrm>
          <a:prstGeom prst="rect">
            <a:avLst/>
          </a:prstGeom>
          <a:noFill/>
        </p:spPr>
        <p:txBody>
          <a:bodyPr wrap="square" lIns="0" tIns="0" rIns="0" bIns="0">
            <a:spAutoFit/>
          </a:bodyPr>
          <a:lstStyle/>
          <a:p>
            <a:pPr rtl="0">
              <a:lnSpc>
                <a:spcPct val="142000"/>
              </a:lnSpc>
            </a:pPr>
            <a:r>
              <a:rPr sz="1500" b="0" i="0">
                <a:solidFill>
                  <a:srgbClr val="16211C"/>
                </a:solidFill>
                <a:latin typeface="Calibri"/>
              </a:rPr>
              <a:t>C’est une vitrine soignée : elle présente l’entreprise, ses valeurs et ses projets. Elle fait bien ce pour quoi elle a été conçue, et elle garde son utilité pour l’image de marque.</a:t>
            </a:r>
          </a:p>
          <a:p>
            <a:pPr rtl="0">
              <a:lnSpc>
                <a:spcPct val="142000"/>
              </a:lnSpc>
              <a:spcBef>
                <a:spcPts val="1200"/>
              </a:spcBef>
            </a:pPr>
            <a:r>
              <a:rPr sz="1500" b="0" i="0">
                <a:solidFill>
                  <a:srgbClr val="16211C"/>
                </a:solidFill>
                <a:latin typeface="Calibri"/>
              </a:rPr>
              <a:t>Mais elle s’arrête là où commence la vente. Elle ne dit pas ce qui reste disponible, ne montre pas un logement précis, ne prouve pas le quartier, ne permet pas de visiter, et ne garde aucune trace du visiteur.</a:t>
            </a:r>
          </a:p>
        </p:txBody>
      </p:sp>
      <p:pic>
        <p:nvPicPr>
          <p:cNvPr id="7" name="Picture 6" descr="afb086fd4bea811b767f68bfdc210ac065ce5563.jpg"/>
          <p:cNvPicPr>
            <a:picLocks noChangeAspect="1"/>
          </p:cNvPicPr>
          <p:nvPr/>
        </p:nvPicPr>
        <p:blipFill>
          <a:blip r:embed="rId5"/>
          <a:stretch>
            <a:fillRect/>
          </a:stretch>
        </p:blipFill>
        <p:spPr>
          <a:xfrm>
            <a:off x="5897880" y="1124903"/>
            <a:ext cx="5516575" cy="3830954"/>
          </a:xfrm>
          <a:prstGeom prst="rect">
            <a:avLst/>
          </a:prstGeom>
          <a:ln w="9525">
            <a:solidFill>
              <a:srgbClr val="E2DCD2"/>
            </a:solidFill>
          </a:ln>
        </p:spPr>
      </p:pic>
      <p:sp>
        <p:nvSpPr>
          <p:cNvPr id="8" name="TextBox 7"/>
          <p:cNvSpPr txBox="1"/>
          <p:nvPr/>
        </p:nvSpPr>
        <p:spPr>
          <a:xfrm>
            <a:off x="5897880" y="5413248"/>
            <a:ext cx="5516575" cy="822960"/>
          </a:xfrm>
          <a:prstGeom prst="rect">
            <a:avLst/>
          </a:prstGeom>
          <a:noFill/>
        </p:spPr>
        <p:txBody>
          <a:bodyPr wrap="square" lIns="0" tIns="0" rIns="0" bIns="0">
            <a:spAutoFit/>
          </a:bodyPr>
          <a:lstStyle/>
          <a:p>
            <a:pPr rtl="0">
              <a:lnSpc>
                <a:spcPct val="125000"/>
              </a:lnSpc>
            </a:pPr>
            <a:r>
              <a:rPr sz="1050" b="0" i="1">
                <a:solidFill>
                  <a:srgbClr val="6D766F"/>
                </a:solidFill>
                <a:latin typeface="Calibri"/>
              </a:rPr>
              <a:t>narjissimmobiliere.com — une vitrine : on y découvre l’entreprise, on n’y choisit pas un logement.</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4</a:t>
            </a:r>
          </a:p>
        </p:txBody>
      </p:sp>
      <p:pic>
        <p:nvPicPr>
          <p:cNvPr id="11" name="diapo-04-a4bf64a7d5">
            <a:hlinkClick r:id="" action="ppaction://media"/>
            <a:extLst>
              <a:ext uri="{FF2B5EF4-FFF2-40B4-BE49-F238E27FC236}">
                <a16:creationId xmlns:a16="http://schemas.microsoft.com/office/drawing/2014/main" id="{39B0AB50-A4B3-D9BA-CA9E-5DCF7E2470A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100"/>
    </mc:Choice>
    <mc:Fallback>
      <p:transition spd="slow" advTm="41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91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9174175"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OÙ EN SOMMES-NOUS AUJOURD’HUI</a:t>
            </a:r>
          </a:p>
        </p:txBody>
      </p:sp>
      <p:sp>
        <p:nvSpPr>
          <p:cNvPr id="4" name="TextBox 3"/>
          <p:cNvSpPr txBox="1"/>
          <p:nvPr/>
        </p:nvSpPr>
        <p:spPr>
          <a:xfrm>
            <a:off x="777240" y="1106424"/>
            <a:ext cx="9174175"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Les publications Facebook</a:t>
            </a:r>
          </a:p>
        </p:txBody>
      </p:sp>
      <p:sp>
        <p:nvSpPr>
          <p:cNvPr id="5" name="Rectangle 4"/>
          <p:cNvSpPr/>
          <p:nvPr/>
        </p:nvSpPr>
        <p:spPr>
          <a:xfrm>
            <a:off x="777240"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75688"/>
            <a:ext cx="9174175" cy="3867912"/>
          </a:xfrm>
          <a:prstGeom prst="rect">
            <a:avLst/>
          </a:prstGeom>
          <a:noFill/>
        </p:spPr>
        <p:txBody>
          <a:bodyPr wrap="square" lIns="0" tIns="0" rIns="0" bIns="0">
            <a:spAutoFit/>
          </a:bodyPr>
          <a:lstStyle/>
          <a:p>
            <a:pPr rtl="0">
              <a:lnSpc>
                <a:spcPct val="142000"/>
              </a:lnSpc>
            </a:pPr>
            <a:r>
              <a:rPr sz="1600" b="0" i="0">
                <a:solidFill>
                  <a:srgbClr val="16211C"/>
                </a:solidFill>
                <a:latin typeface="Calibri"/>
              </a:rPr>
              <a:t>Elles apportent de l’audience, et il faut les garder. Leurs limites sont connues de tous ceux qui vendent : une vidéo descend dans le fil et disparaît, une affirmation comme « tout est à proximité » ne se vérifie pas, un commentaire n’est pas un dossier client, et un même message ne parle qu’à une langue à la fois. Surtout, un contenu Facebook ne peut pas dire à un client ce qui est encore disponible ce matin.</a:t>
            </a:r>
          </a:p>
          <a:p>
            <a:pPr rtl="0">
              <a:lnSpc>
                <a:spcPct val="142000"/>
              </a:lnSpc>
              <a:spcBef>
                <a:spcPts val="1200"/>
              </a:spcBef>
            </a:pPr>
            <a:r>
              <a:rPr sz="1600" b="0" i="0">
                <a:solidFill>
                  <a:srgbClr val="16211C"/>
                </a:solidFill>
                <a:latin typeface="Calibri"/>
              </a:rPr>
              <a:t>Ce n’est pas un choix entre les deux. Facebook fait venir ; narjiss.company transforme la visite en décision, et garde la trace.</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5</a:t>
            </a:r>
          </a:p>
        </p:txBody>
      </p:sp>
      <p:pic>
        <p:nvPicPr>
          <p:cNvPr id="9" name="diapo-05-1a32d225b1">
            <a:hlinkClick r:id="" action="ppaction://media"/>
            <a:extLst>
              <a:ext uri="{FF2B5EF4-FFF2-40B4-BE49-F238E27FC236}">
                <a16:creationId xmlns:a16="http://schemas.microsoft.com/office/drawing/2014/main" id="{169850F5-5211-877E-78CC-0DDA41E0CB2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800"/>
    </mc:Choice>
    <mc:Fallback>
      <p:transition spd="slow" advTm="39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616"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1600200"/>
            <a:ext cx="10637215" cy="1005840"/>
          </a:xfrm>
          <a:prstGeom prst="rect">
            <a:avLst/>
          </a:prstGeom>
          <a:noFill/>
        </p:spPr>
        <p:txBody>
          <a:bodyPr wrap="square" lIns="0" tIns="0" rIns="0" bIns="0">
            <a:spAutoFit/>
          </a:bodyPr>
          <a:lstStyle/>
          <a:p>
            <a:pPr rtl="0">
              <a:lnSpc>
                <a:spcPct val="115000"/>
              </a:lnSpc>
            </a:pPr>
            <a:r>
              <a:rPr sz="3400" b="0" i="0">
                <a:solidFill>
                  <a:srgbClr val="16211C"/>
                </a:solidFill>
                <a:latin typeface="Georgia"/>
              </a:rPr>
              <a:t>Ce que vit le client, en cinq temps</a:t>
            </a:r>
          </a:p>
        </p:txBody>
      </p:sp>
      <p:sp>
        <p:nvSpPr>
          <p:cNvPr id="4" name="Rectangle 3"/>
          <p:cNvSpPr/>
          <p:nvPr/>
        </p:nvSpPr>
        <p:spPr>
          <a:xfrm>
            <a:off x="777240" y="2697480"/>
            <a:ext cx="128016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3566160"/>
            <a:ext cx="1688531" cy="2540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3794760"/>
            <a:ext cx="1688531" cy="1463040"/>
          </a:xfrm>
          <a:prstGeom prst="rect">
            <a:avLst/>
          </a:prstGeom>
          <a:noFill/>
        </p:spPr>
        <p:txBody>
          <a:bodyPr wrap="square" lIns="0" tIns="0" rIns="0" bIns="0">
            <a:spAutoFit/>
          </a:bodyPr>
          <a:lstStyle/>
          <a:p>
            <a:pPr rtl="0">
              <a:lnSpc>
                <a:spcPct val="130000"/>
              </a:lnSpc>
            </a:pPr>
            <a:r>
              <a:rPr sz="1500" b="0" i="0">
                <a:solidFill>
                  <a:srgbClr val="16211C"/>
                </a:solidFill>
                <a:latin typeface="Calibri"/>
              </a:rPr>
              <a:t>1. Il découvre</a:t>
            </a:r>
          </a:p>
        </p:txBody>
      </p:sp>
      <p:sp>
        <p:nvSpPr>
          <p:cNvPr id="7" name="Rectangle 6"/>
          <p:cNvSpPr/>
          <p:nvPr/>
        </p:nvSpPr>
        <p:spPr>
          <a:xfrm>
            <a:off x="3014411" y="3566160"/>
            <a:ext cx="1688531" cy="2540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014411" y="3794760"/>
            <a:ext cx="1688531" cy="1463040"/>
          </a:xfrm>
          <a:prstGeom prst="rect">
            <a:avLst/>
          </a:prstGeom>
          <a:noFill/>
        </p:spPr>
        <p:txBody>
          <a:bodyPr wrap="square" lIns="0" tIns="0" rIns="0" bIns="0">
            <a:spAutoFit/>
          </a:bodyPr>
          <a:lstStyle/>
          <a:p>
            <a:pPr rtl="0">
              <a:lnSpc>
                <a:spcPct val="130000"/>
              </a:lnSpc>
            </a:pPr>
            <a:r>
              <a:rPr sz="1500" b="0" i="0">
                <a:solidFill>
                  <a:srgbClr val="16211C"/>
                </a:solidFill>
                <a:latin typeface="Calibri"/>
              </a:rPr>
              <a:t>2. Il vérifie le quartier — et c’est décisif</a:t>
            </a:r>
          </a:p>
        </p:txBody>
      </p:sp>
      <p:sp>
        <p:nvSpPr>
          <p:cNvPr id="9" name="Rectangle 8"/>
          <p:cNvSpPr/>
          <p:nvPr/>
        </p:nvSpPr>
        <p:spPr>
          <a:xfrm>
            <a:off x="5251582" y="3566160"/>
            <a:ext cx="1688531" cy="2540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51582" y="3794760"/>
            <a:ext cx="1688531" cy="1463040"/>
          </a:xfrm>
          <a:prstGeom prst="rect">
            <a:avLst/>
          </a:prstGeom>
          <a:noFill/>
        </p:spPr>
        <p:txBody>
          <a:bodyPr wrap="square" lIns="0" tIns="0" rIns="0" bIns="0">
            <a:spAutoFit/>
          </a:bodyPr>
          <a:lstStyle/>
          <a:p>
            <a:pPr rtl="0">
              <a:lnSpc>
                <a:spcPct val="130000"/>
              </a:lnSpc>
            </a:pPr>
            <a:r>
              <a:rPr sz="1500" b="0" i="0">
                <a:solidFill>
                  <a:srgbClr val="16211C"/>
                </a:solidFill>
                <a:latin typeface="Calibri"/>
              </a:rPr>
              <a:t>3. Il visite</a:t>
            </a:r>
          </a:p>
        </p:txBody>
      </p:sp>
      <p:sp>
        <p:nvSpPr>
          <p:cNvPr id="11" name="Rectangle 10"/>
          <p:cNvSpPr/>
          <p:nvPr/>
        </p:nvSpPr>
        <p:spPr>
          <a:xfrm>
            <a:off x="7488753" y="3566160"/>
            <a:ext cx="1688531" cy="2540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88753" y="3794760"/>
            <a:ext cx="1688531" cy="1463040"/>
          </a:xfrm>
          <a:prstGeom prst="rect">
            <a:avLst/>
          </a:prstGeom>
          <a:noFill/>
        </p:spPr>
        <p:txBody>
          <a:bodyPr wrap="square" lIns="0" tIns="0" rIns="0" bIns="0">
            <a:spAutoFit/>
          </a:bodyPr>
          <a:lstStyle/>
          <a:p>
            <a:pPr rtl="0">
              <a:lnSpc>
                <a:spcPct val="130000"/>
              </a:lnSpc>
            </a:pPr>
            <a:r>
              <a:rPr sz="1500" b="0" i="0">
                <a:solidFill>
                  <a:srgbClr val="16211C"/>
                </a:solidFill>
                <a:latin typeface="Calibri"/>
              </a:rPr>
              <a:t>4. Il choisit son logement</a:t>
            </a:r>
          </a:p>
        </p:txBody>
      </p:sp>
      <p:sp>
        <p:nvSpPr>
          <p:cNvPr id="13" name="Rectangle 12"/>
          <p:cNvSpPr/>
          <p:nvPr/>
        </p:nvSpPr>
        <p:spPr>
          <a:xfrm>
            <a:off x="9725924" y="3566160"/>
            <a:ext cx="1688531" cy="2540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25924" y="3794760"/>
            <a:ext cx="1688531" cy="1463040"/>
          </a:xfrm>
          <a:prstGeom prst="rect">
            <a:avLst/>
          </a:prstGeom>
          <a:noFill/>
        </p:spPr>
        <p:txBody>
          <a:bodyPr wrap="square" lIns="0" tIns="0" rIns="0" bIns="0">
            <a:spAutoFit/>
          </a:bodyPr>
          <a:lstStyle/>
          <a:p>
            <a:pPr rtl="0">
              <a:lnSpc>
                <a:spcPct val="130000"/>
              </a:lnSpc>
            </a:pPr>
            <a:r>
              <a:rPr sz="1500" b="0" i="0">
                <a:solidFill>
                  <a:srgbClr val="16211C"/>
                </a:solidFill>
                <a:latin typeface="Calibri"/>
              </a:rPr>
              <a:t>5. Il décide en famille, même à distance</a:t>
            </a:r>
          </a:p>
        </p:txBody>
      </p:sp>
      <p:sp>
        <p:nvSpPr>
          <p:cNvPr id="15" name="Rectangle 14"/>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6</a:t>
            </a:r>
          </a:p>
        </p:txBody>
      </p:sp>
      <p:pic>
        <p:nvPicPr>
          <p:cNvPr id="17" name="diapo-06-e903d8b35b">
            <a:hlinkClick r:id="" action="ppaction://media"/>
            <a:extLst>
              <a:ext uri="{FF2B5EF4-FFF2-40B4-BE49-F238E27FC236}">
                <a16:creationId xmlns:a16="http://schemas.microsoft.com/office/drawing/2014/main" id="{96BF6A60-97A7-53EC-85DF-CB91A10EDB9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9600"/>
    </mc:Choice>
    <mc:Fallback>
      <p:transition spd="slow" advTm="19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360"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4480560"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CE QUE VIT LE CLIENT, EN CINQ TEMPS</a:t>
            </a:r>
          </a:p>
        </p:txBody>
      </p:sp>
      <p:sp>
        <p:nvSpPr>
          <p:cNvPr id="4" name="TextBox 3"/>
          <p:cNvSpPr txBox="1"/>
          <p:nvPr/>
        </p:nvSpPr>
        <p:spPr>
          <a:xfrm>
            <a:off x="777240" y="1106424"/>
            <a:ext cx="4480560"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1. Il découvre</a:t>
            </a:r>
          </a:p>
        </p:txBody>
      </p:sp>
      <p:sp>
        <p:nvSpPr>
          <p:cNvPr id="5" name="Rectangle 4"/>
          <p:cNvSpPr/>
          <p:nvPr/>
        </p:nvSpPr>
        <p:spPr>
          <a:xfrm>
            <a:off x="777240"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75688"/>
            <a:ext cx="4480560" cy="3867912"/>
          </a:xfrm>
          <a:prstGeom prst="rect">
            <a:avLst/>
          </a:prstGeom>
          <a:noFill/>
        </p:spPr>
        <p:txBody>
          <a:bodyPr wrap="square" lIns="0" tIns="0" rIns="0" bIns="0">
            <a:spAutoFit/>
          </a:bodyPr>
          <a:lstStyle/>
          <a:p>
            <a:pPr rtl="0">
              <a:lnSpc>
                <a:spcPct val="142000"/>
              </a:lnSpc>
            </a:pPr>
            <a:r>
              <a:rPr sz="1500" b="0" i="0">
                <a:solidFill>
                  <a:srgbClr val="16211C"/>
                </a:solidFill>
                <a:latin typeface="Calibri"/>
              </a:rPr>
              <a:t>Une page d’accueil, douze projets, une carte du Maroc. Le visiteur choisit sa langue en haut à droite — français, anglais, arabe, espagnol — et tout le site suit, y compris l’arabe écrit de droite à gauche.</a:t>
            </a:r>
          </a:p>
        </p:txBody>
      </p:sp>
      <p:pic>
        <p:nvPicPr>
          <p:cNvPr id="7" name="Picture 6" descr="64913ab1480b5f58e508bba51c4633bd8e8a9aa3.jpg"/>
          <p:cNvPicPr>
            <a:picLocks noChangeAspect="1"/>
          </p:cNvPicPr>
          <p:nvPr/>
        </p:nvPicPr>
        <p:blipFill>
          <a:blip r:embed="rId5"/>
          <a:stretch>
            <a:fillRect/>
          </a:stretch>
        </p:blipFill>
        <p:spPr>
          <a:xfrm>
            <a:off x="5897880" y="1316450"/>
            <a:ext cx="5516575" cy="3447859"/>
          </a:xfrm>
          <a:prstGeom prst="rect">
            <a:avLst/>
          </a:prstGeom>
          <a:ln w="9525">
            <a:solidFill>
              <a:srgbClr val="E2DCD2"/>
            </a:solidFill>
          </a:ln>
        </p:spPr>
      </p:pic>
      <p:sp>
        <p:nvSpPr>
          <p:cNvPr id="8" name="TextBox 7"/>
          <p:cNvSpPr txBox="1"/>
          <p:nvPr/>
        </p:nvSpPr>
        <p:spPr>
          <a:xfrm>
            <a:off x="5897880" y="5413248"/>
            <a:ext cx="5516575" cy="822960"/>
          </a:xfrm>
          <a:prstGeom prst="rect">
            <a:avLst/>
          </a:prstGeom>
          <a:noFill/>
        </p:spPr>
        <p:txBody>
          <a:bodyPr wrap="square" lIns="0" tIns="0" rIns="0" bIns="0">
            <a:spAutoFit/>
          </a:bodyPr>
          <a:lstStyle/>
          <a:p>
            <a:pPr rtl="0">
              <a:lnSpc>
                <a:spcPct val="125000"/>
              </a:lnSpc>
            </a:pPr>
            <a:r>
              <a:rPr sz="1050" b="0" i="1">
                <a:solidFill>
                  <a:srgbClr val="6D766F"/>
                </a:solidFill>
                <a:latin typeface="Calibri"/>
              </a:rPr>
              <a:t>L’accueil : les projets, la carte globale, la démonstration guidée, et les quatre langues.</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7</a:t>
            </a:r>
          </a:p>
        </p:txBody>
      </p:sp>
      <p:pic>
        <p:nvPicPr>
          <p:cNvPr id="11" name="diapo-07-966168f50e">
            <a:hlinkClick r:id="" action="ppaction://media"/>
            <a:extLst>
              <a:ext uri="{FF2B5EF4-FFF2-40B4-BE49-F238E27FC236}">
                <a16:creationId xmlns:a16="http://schemas.microsoft.com/office/drawing/2014/main" id="{5C66E058-01C4-EA3D-1852-D8B8BAF21D3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8600"/>
    </mc:Choice>
    <mc:Fallback>
      <p:transition spd="slow" advTm="28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740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4480560"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CE QUE VIT LE CLIENT, EN CINQ TEMPS</a:t>
            </a:r>
          </a:p>
        </p:txBody>
      </p:sp>
      <p:sp>
        <p:nvSpPr>
          <p:cNvPr id="4" name="TextBox 3"/>
          <p:cNvSpPr txBox="1"/>
          <p:nvPr/>
        </p:nvSpPr>
        <p:spPr>
          <a:xfrm>
            <a:off x="777240" y="1106424"/>
            <a:ext cx="4480560"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2. Il vérifie le quartier — et c’est décisif</a:t>
            </a:r>
          </a:p>
        </p:txBody>
      </p:sp>
      <p:sp>
        <p:nvSpPr>
          <p:cNvPr id="5" name="Rectangle 4"/>
          <p:cNvSpPr/>
          <p:nvPr/>
        </p:nvSpPr>
        <p:spPr>
          <a:xfrm>
            <a:off x="777240" y="21488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532888"/>
            <a:ext cx="4480560" cy="3410712"/>
          </a:xfrm>
          <a:prstGeom prst="rect">
            <a:avLst/>
          </a:prstGeom>
          <a:noFill/>
        </p:spPr>
        <p:txBody>
          <a:bodyPr wrap="square" lIns="0" tIns="0" rIns="0" bIns="0">
            <a:spAutoFit/>
          </a:bodyPr>
          <a:lstStyle/>
          <a:p>
            <a:pPr rtl="0">
              <a:lnSpc>
                <a:spcPct val="142000"/>
              </a:lnSpc>
            </a:pPr>
            <a:r>
              <a:rPr sz="1500" b="0" i="0">
                <a:solidFill>
                  <a:srgbClr val="16211C"/>
                </a:solidFill>
                <a:latin typeface="Calibri"/>
              </a:rPr>
              <a:t>La première question d’un acheteur n’est pas le prix, c’est : « qu’est-ce qu’il y a autour ? ». Une vidéo qui affirme « tout est à proximité » demande de la confiance.</a:t>
            </a:r>
          </a:p>
          <a:p>
            <a:pPr rtl="0">
              <a:lnSpc>
                <a:spcPct val="142000"/>
              </a:lnSpc>
              <a:spcBef>
                <a:spcPts val="1200"/>
              </a:spcBef>
            </a:pPr>
            <a:r>
              <a:rPr sz="1500" b="0" i="0">
                <a:solidFill>
                  <a:srgbClr val="16211C"/>
                </a:solidFill>
                <a:latin typeface="Calibri"/>
              </a:rPr>
              <a:t>Le client filtre par catégorie, trie par distance, ouvre l’itinéraire, se l’envoie sur WhatsApp. Il n’a pas à nous croire : il vérifie.</a:t>
            </a:r>
          </a:p>
        </p:txBody>
      </p:sp>
      <p:pic>
        <p:nvPicPr>
          <p:cNvPr id="7" name="Picture 6" descr="655ff865d65a27b06e3733420233e7bc0617b4a6.jpg"/>
          <p:cNvPicPr>
            <a:picLocks noChangeAspect="1"/>
          </p:cNvPicPr>
          <p:nvPr/>
        </p:nvPicPr>
        <p:blipFill>
          <a:blip r:embed="rId5"/>
          <a:stretch>
            <a:fillRect/>
          </a:stretch>
        </p:blipFill>
        <p:spPr>
          <a:xfrm>
            <a:off x="5897880" y="1124903"/>
            <a:ext cx="5516575" cy="3830954"/>
          </a:xfrm>
          <a:prstGeom prst="rect">
            <a:avLst/>
          </a:prstGeom>
          <a:ln w="9525">
            <a:solidFill>
              <a:srgbClr val="E2DCD2"/>
            </a:solidFill>
          </a:ln>
        </p:spPr>
      </p:pic>
      <p:sp>
        <p:nvSpPr>
          <p:cNvPr id="8" name="TextBox 7"/>
          <p:cNvSpPr txBox="1"/>
          <p:nvPr/>
        </p:nvSpPr>
        <p:spPr>
          <a:xfrm>
            <a:off x="5897880" y="5413248"/>
            <a:ext cx="5516575" cy="822960"/>
          </a:xfrm>
          <a:prstGeom prst="rect">
            <a:avLst/>
          </a:prstGeom>
          <a:noFill/>
        </p:spPr>
        <p:txBody>
          <a:bodyPr wrap="square" lIns="0" tIns="0" rIns="0" bIns="0">
            <a:spAutoFit/>
          </a:bodyPr>
          <a:lstStyle/>
          <a:p>
            <a:pPr rtl="0">
              <a:lnSpc>
                <a:spcPct val="125000"/>
              </a:lnSpc>
            </a:pPr>
            <a:r>
              <a:rPr sz="1050" b="0" i="1">
                <a:solidFill>
                  <a:srgbClr val="6D766F"/>
                </a:solidFill>
                <a:latin typeface="Calibri"/>
              </a:rPr>
              <a:t>Résidence Al Jawhara : 77 points d’intérêt relevés un par un, filtrables et mesurables. Plus de 900 commodités sont cartographiées sur l’ensemble des projets.</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8</a:t>
            </a:r>
          </a:p>
        </p:txBody>
      </p:sp>
      <p:pic>
        <p:nvPicPr>
          <p:cNvPr id="11" name="diapo-08-3a9f53436f">
            <a:hlinkClick r:id="" action="ppaction://media"/>
            <a:extLst>
              <a:ext uri="{FF2B5EF4-FFF2-40B4-BE49-F238E27FC236}">
                <a16:creationId xmlns:a16="http://schemas.microsoft.com/office/drawing/2014/main" id="{1AB9470A-DC3E-2454-BDF5-8EAD6B9D979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800"/>
    </mc:Choice>
    <mc:Fallback>
      <p:transition spd="slow" advTm="51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61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4480560"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CE QUE VIT LE CLIENT, EN CINQ TEMPS</a:t>
            </a:r>
          </a:p>
        </p:txBody>
      </p:sp>
      <p:sp>
        <p:nvSpPr>
          <p:cNvPr id="4" name="TextBox 3"/>
          <p:cNvSpPr txBox="1"/>
          <p:nvPr/>
        </p:nvSpPr>
        <p:spPr>
          <a:xfrm>
            <a:off x="777240" y="1106424"/>
            <a:ext cx="4480560"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3. Il visite</a:t>
            </a:r>
          </a:p>
        </p:txBody>
      </p:sp>
      <p:sp>
        <p:nvSpPr>
          <p:cNvPr id="5" name="Rectangle 4"/>
          <p:cNvSpPr/>
          <p:nvPr/>
        </p:nvSpPr>
        <p:spPr>
          <a:xfrm>
            <a:off x="777240"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75688"/>
            <a:ext cx="4480560" cy="3867912"/>
          </a:xfrm>
          <a:prstGeom prst="rect">
            <a:avLst/>
          </a:prstGeom>
          <a:noFill/>
        </p:spPr>
        <p:txBody>
          <a:bodyPr wrap="square" lIns="0" tIns="0" rIns="0" bIns="0">
            <a:spAutoFit/>
          </a:bodyPr>
          <a:lstStyle/>
          <a:p>
            <a:pPr rtl="0">
              <a:lnSpc>
                <a:spcPct val="142000"/>
              </a:lnSpc>
            </a:pPr>
            <a:r>
              <a:rPr sz="1500" b="0" i="0">
                <a:solidFill>
                  <a:srgbClr val="16211C"/>
                </a:solidFill>
                <a:latin typeface="Calibri"/>
              </a:rPr>
              <a:t>Visite 360° du projet, appartement témoin, plan d’architecte et plan commercial superposables, vidéos, album photo. Le client tourne la tête au doigt sur son téléphone, ou en grand sur la borne de l’agence.</a:t>
            </a:r>
          </a:p>
        </p:txBody>
      </p:sp>
      <p:pic>
        <p:nvPicPr>
          <p:cNvPr id="7" name="Picture 6" descr="922c29033ad0d0d99a0fd845f73ba1b45f293ac7.jpg"/>
          <p:cNvPicPr>
            <a:picLocks noChangeAspect="1"/>
          </p:cNvPicPr>
          <p:nvPr/>
        </p:nvPicPr>
        <p:blipFill>
          <a:blip r:embed="rId5"/>
          <a:stretch>
            <a:fillRect/>
          </a:stretch>
        </p:blipFill>
        <p:spPr>
          <a:xfrm>
            <a:off x="5936821" y="868680"/>
            <a:ext cx="5438692" cy="4343400"/>
          </a:xfrm>
          <a:prstGeom prst="rect">
            <a:avLst/>
          </a:prstGeom>
          <a:ln w="9525">
            <a:solidFill>
              <a:srgbClr val="E2DCD2"/>
            </a:solidFill>
          </a:ln>
        </p:spPr>
      </p:pic>
      <p:sp>
        <p:nvSpPr>
          <p:cNvPr id="8" name="TextBox 7"/>
          <p:cNvSpPr txBox="1"/>
          <p:nvPr/>
        </p:nvSpPr>
        <p:spPr>
          <a:xfrm>
            <a:off x="5897880" y="5413248"/>
            <a:ext cx="5516575" cy="822960"/>
          </a:xfrm>
          <a:prstGeom prst="rect">
            <a:avLst/>
          </a:prstGeom>
          <a:noFill/>
        </p:spPr>
        <p:txBody>
          <a:bodyPr wrap="square" lIns="0" tIns="0" rIns="0" bIns="0">
            <a:spAutoFit/>
          </a:bodyPr>
          <a:lstStyle/>
          <a:p>
            <a:pPr rtl="0">
              <a:lnSpc>
                <a:spcPct val="125000"/>
              </a:lnSpc>
            </a:pPr>
            <a:r>
              <a:rPr sz="1050" b="0" i="1">
                <a:solidFill>
                  <a:srgbClr val="6D766F"/>
                </a:solidFill>
                <a:latin typeface="Calibri"/>
              </a:rPr>
              <a:t>La fiche projet : la visite 360° occupe l’écran, les autres médias sont à un clic.</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9</a:t>
            </a:r>
          </a:p>
        </p:txBody>
      </p:sp>
      <p:pic>
        <p:nvPicPr>
          <p:cNvPr id="11" name="diapo-09-a8b60d9fbd">
            <a:hlinkClick r:id="" action="ppaction://media"/>
            <a:extLst>
              <a:ext uri="{FF2B5EF4-FFF2-40B4-BE49-F238E27FC236}">
                <a16:creationId xmlns:a16="http://schemas.microsoft.com/office/drawing/2014/main" id="{55B0FE12-3C7B-F615-C49F-A4259655D22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7900"/>
    </mc:Choice>
    <mc:Fallback>
      <p:transition spd="slow" advTm="27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666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4480560"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CE QUE VIT LE CLIENT, EN CINQ TEMPS</a:t>
            </a:r>
          </a:p>
        </p:txBody>
      </p:sp>
      <p:sp>
        <p:nvSpPr>
          <p:cNvPr id="4" name="TextBox 3"/>
          <p:cNvSpPr txBox="1"/>
          <p:nvPr/>
        </p:nvSpPr>
        <p:spPr>
          <a:xfrm>
            <a:off x="777240" y="1106424"/>
            <a:ext cx="4480560"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4. Il choisit son logement</a:t>
            </a:r>
          </a:p>
        </p:txBody>
      </p:sp>
      <p:sp>
        <p:nvSpPr>
          <p:cNvPr id="5" name="Rectangle 4"/>
          <p:cNvSpPr/>
          <p:nvPr/>
        </p:nvSpPr>
        <p:spPr>
          <a:xfrm>
            <a:off x="777240" y="21488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532888"/>
            <a:ext cx="4480560" cy="3410712"/>
          </a:xfrm>
          <a:prstGeom prst="rect">
            <a:avLst/>
          </a:prstGeom>
          <a:noFill/>
        </p:spPr>
        <p:txBody>
          <a:bodyPr wrap="square" lIns="0" tIns="0" rIns="0" bIns="0">
            <a:spAutoFit/>
          </a:bodyPr>
          <a:lstStyle/>
          <a:p>
            <a:pPr rtl="0">
              <a:lnSpc>
                <a:spcPct val="142000"/>
              </a:lnSpc>
            </a:pPr>
            <a:r>
              <a:rPr sz="1500" b="0" i="0">
                <a:solidFill>
                  <a:srgbClr val="16211C"/>
                </a:solidFill>
                <a:latin typeface="Calibri"/>
              </a:rPr>
              <a:t>C’est le cœur de l’outil, et c’est ce qu’aucun site vitrine ne fait.</a:t>
            </a:r>
          </a:p>
          <a:p>
            <a:pPr rtl="0">
              <a:lnSpc>
                <a:spcPct val="142000"/>
              </a:lnSpc>
              <a:spcBef>
                <a:spcPts val="1200"/>
              </a:spcBef>
            </a:pPr>
            <a:r>
              <a:rPr sz="1500" b="0" i="0">
                <a:solidFill>
                  <a:srgbClr val="16211C"/>
                </a:solidFill>
                <a:latin typeface="Calibri"/>
              </a:rPr>
              <a:t>Il filtre selon ses critères, retient jusqu’à trois logements, les compare, puis envoie sa sélection. Le conseiller le rappelle avec ces logements sous les yeux.</a:t>
            </a:r>
          </a:p>
        </p:txBody>
      </p:sp>
      <p:pic>
        <p:nvPicPr>
          <p:cNvPr id="7" name="Picture 6" descr="4d1e3bac7ec0349d137f3927b71cb315f6f70b80.jpg"/>
          <p:cNvPicPr>
            <a:picLocks noChangeAspect="1"/>
          </p:cNvPicPr>
          <p:nvPr/>
        </p:nvPicPr>
        <p:blipFill>
          <a:blip r:embed="rId5"/>
          <a:stretch>
            <a:fillRect/>
          </a:stretch>
        </p:blipFill>
        <p:spPr>
          <a:xfrm>
            <a:off x="5897880" y="933355"/>
            <a:ext cx="5516575" cy="4214050"/>
          </a:xfrm>
          <a:prstGeom prst="rect">
            <a:avLst/>
          </a:prstGeom>
          <a:ln w="9525">
            <a:solidFill>
              <a:srgbClr val="E2DCD2"/>
            </a:solidFill>
          </a:ln>
        </p:spPr>
      </p:pic>
      <p:sp>
        <p:nvSpPr>
          <p:cNvPr id="8" name="TextBox 7"/>
          <p:cNvSpPr txBox="1"/>
          <p:nvPr/>
        </p:nvSpPr>
        <p:spPr>
          <a:xfrm>
            <a:off x="5897880" y="5413248"/>
            <a:ext cx="5516575" cy="822960"/>
          </a:xfrm>
          <a:prstGeom prst="rect">
            <a:avLst/>
          </a:prstGeom>
          <a:noFill/>
        </p:spPr>
        <p:txBody>
          <a:bodyPr wrap="square" lIns="0" tIns="0" rIns="0" bIns="0">
            <a:spAutoFit/>
          </a:bodyPr>
          <a:lstStyle/>
          <a:p>
            <a:pPr rtl="0">
              <a:lnSpc>
                <a:spcPct val="125000"/>
              </a:lnSpc>
            </a:pPr>
            <a:r>
              <a:rPr sz="1050" b="0" i="1">
                <a:solidFill>
                  <a:srgbClr val="6D766F"/>
                </a:solidFill>
                <a:latin typeface="Calibri"/>
              </a:rPr>
              <a:t>Le plan de masse, immeuble par immeuble, avec le nombre de logements encore disponibles. Quatre statuts, les mêmes couleurs qu’au bureau de vente.</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10</a:t>
            </a:r>
          </a:p>
        </p:txBody>
      </p:sp>
      <p:pic>
        <p:nvPicPr>
          <p:cNvPr id="11" name="diapo-10-4b3964c6ca">
            <a:hlinkClick r:id="" action="ppaction://media"/>
            <a:extLst>
              <a:ext uri="{FF2B5EF4-FFF2-40B4-BE49-F238E27FC236}">
                <a16:creationId xmlns:a16="http://schemas.microsoft.com/office/drawing/2014/main" id="{E7EB790C-F851-2A02-4EC3-23B133C794D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300"/>
    </mc:Choice>
    <mc:Fallback>
      <p:transition spd="slow" advTm="43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12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9174175"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CE QUE VIT LE CLIENT, EN CINQ TEMPS</a:t>
            </a:r>
          </a:p>
        </p:txBody>
      </p:sp>
      <p:sp>
        <p:nvSpPr>
          <p:cNvPr id="4" name="TextBox 3"/>
          <p:cNvSpPr txBox="1"/>
          <p:nvPr/>
        </p:nvSpPr>
        <p:spPr>
          <a:xfrm>
            <a:off x="777240" y="1106424"/>
            <a:ext cx="9174175"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5. Il décide en famille, même à distance</a:t>
            </a:r>
          </a:p>
        </p:txBody>
      </p:sp>
      <p:sp>
        <p:nvSpPr>
          <p:cNvPr id="5" name="Rectangle 4"/>
          <p:cNvSpPr/>
          <p:nvPr/>
        </p:nvSpPr>
        <p:spPr>
          <a:xfrm>
            <a:off x="777240"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75688"/>
            <a:ext cx="9174175" cy="3867912"/>
          </a:xfrm>
          <a:prstGeom prst="rect">
            <a:avLst/>
          </a:prstGeom>
          <a:noFill/>
        </p:spPr>
        <p:txBody>
          <a:bodyPr wrap="square" lIns="0" tIns="0" rIns="0" bIns="0">
            <a:spAutoFit/>
          </a:bodyPr>
          <a:lstStyle/>
          <a:p>
            <a:pPr rtl="0">
              <a:lnSpc>
                <a:spcPct val="142000"/>
              </a:lnSpc>
            </a:pPr>
            <a:r>
              <a:rPr sz="1600" b="0" i="0">
                <a:solidFill>
                  <a:srgbClr val="16211C"/>
                </a:solidFill>
                <a:latin typeface="Calibri"/>
              </a:rPr>
              <a:t>Un lien suffit à partager une sélection. Le fils à Casablanca, le père à Agadir et l’oncle à Bruxelles voient le même plan, la même visite, la même carte — chacun dans sa langue. C’est exactement la situation d’un Marocain résidant à l’étranger qui achète pour sa famille : jusqu’ici, il achetait sur parole et sur photos.</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11</a:t>
            </a:r>
          </a:p>
        </p:txBody>
      </p:sp>
      <p:pic>
        <p:nvPicPr>
          <p:cNvPr id="9" name="diapo-11-0eb827f4f6">
            <a:hlinkClick r:id="" action="ppaction://media"/>
            <a:extLst>
              <a:ext uri="{FF2B5EF4-FFF2-40B4-BE49-F238E27FC236}">
                <a16:creationId xmlns:a16="http://schemas.microsoft.com/office/drawing/2014/main" id="{982EBCAC-BF53-AAB2-6F1F-5FC1EBF809C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6800"/>
    </mc:Choice>
    <mc:Fallback>
      <p:transition spd="slow" advTm="26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556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9174175"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L’HUMAIN D’ABORD, LA MACHINE EN RENFORT</a:t>
            </a:r>
          </a:p>
        </p:txBody>
      </p:sp>
      <p:sp>
        <p:nvSpPr>
          <p:cNvPr id="4" name="TextBox 3"/>
          <p:cNvSpPr txBox="1"/>
          <p:nvPr/>
        </p:nvSpPr>
        <p:spPr>
          <a:xfrm>
            <a:off x="777240" y="1106424"/>
            <a:ext cx="9174175"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La visite guidée en direct</a:t>
            </a:r>
          </a:p>
        </p:txBody>
      </p:sp>
      <p:sp>
        <p:nvSpPr>
          <p:cNvPr id="5" name="Rectangle 4"/>
          <p:cNvSpPr/>
          <p:nvPr/>
        </p:nvSpPr>
        <p:spPr>
          <a:xfrm>
            <a:off x="777240"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75688"/>
            <a:ext cx="9174175" cy="3867912"/>
          </a:xfrm>
          <a:prstGeom prst="rect">
            <a:avLst/>
          </a:prstGeom>
          <a:noFill/>
        </p:spPr>
        <p:txBody>
          <a:bodyPr wrap="square" lIns="0" tIns="0" rIns="0" bIns="0">
            <a:spAutoFit/>
          </a:bodyPr>
          <a:lstStyle/>
          <a:p>
            <a:pPr rtl="0">
              <a:lnSpc>
                <a:spcPct val="142000"/>
              </a:lnSpc>
            </a:pPr>
            <a:r>
              <a:rPr sz="1600" b="0" i="0">
                <a:solidFill>
                  <a:srgbClr val="16211C"/>
                </a:solidFill>
                <a:latin typeface="Calibri"/>
              </a:rPr>
              <a:t>Le conseiller ouvre une visite, communique un code à six chiffres, et le client le saisit depuis chez lui. À partir de cet instant, l’écran du client suit celui du conseiller : changement de page, déplacement sur la carte, rotation dans une visite 360°, tracé au doigt sur un plan. La voix passe dans le même canal.</a:t>
            </a:r>
          </a:p>
          <a:p>
            <a:pPr rtl="0">
              <a:lnSpc>
                <a:spcPct val="142000"/>
              </a:lnSpc>
              <a:spcBef>
                <a:spcPts val="1200"/>
              </a:spcBef>
            </a:pPr>
            <a:r>
              <a:rPr sz="1600" b="0" i="0">
                <a:solidFill>
                  <a:srgbClr val="16211C"/>
                </a:solidFill>
                <a:latin typeface="Calibri"/>
              </a:rPr>
              <a:t>Concrètement : le conseiller entoure un lot sur la carte, mesure la distance jusqu’à l’école, et le client voit le trait se dessiner sur son propre écran, en direct.</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12</a:t>
            </a:r>
          </a:p>
        </p:txBody>
      </p:sp>
      <p:pic>
        <p:nvPicPr>
          <p:cNvPr id="9" name="diapo-12-2638ba1125">
            <a:hlinkClick r:id="" action="ppaction://media"/>
            <a:extLst>
              <a:ext uri="{FF2B5EF4-FFF2-40B4-BE49-F238E27FC236}">
                <a16:creationId xmlns:a16="http://schemas.microsoft.com/office/drawing/2014/main" id="{BE76AA30-71AD-8143-4A30-D05E2373D3D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500"/>
    </mc:Choice>
    <mc:Fallback>
      <p:transition spd="slow" advTm="35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32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4480560"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L’HUMAIN D’ABORD, LA MACHINE EN RENFORT</a:t>
            </a:r>
          </a:p>
        </p:txBody>
      </p:sp>
      <p:sp>
        <p:nvSpPr>
          <p:cNvPr id="4" name="TextBox 3"/>
          <p:cNvSpPr txBox="1"/>
          <p:nvPr/>
        </p:nvSpPr>
        <p:spPr>
          <a:xfrm>
            <a:off x="777240" y="1106424"/>
            <a:ext cx="4480560"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L’hôtesse virtuelle, quand personne n’est là</a:t>
            </a:r>
          </a:p>
        </p:txBody>
      </p:sp>
      <p:sp>
        <p:nvSpPr>
          <p:cNvPr id="5" name="Rectangle 4"/>
          <p:cNvSpPr/>
          <p:nvPr/>
        </p:nvSpPr>
        <p:spPr>
          <a:xfrm>
            <a:off x="777240" y="21488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532888"/>
            <a:ext cx="4480560" cy="3410712"/>
          </a:xfrm>
          <a:prstGeom prst="rect">
            <a:avLst/>
          </a:prstGeom>
          <a:noFill/>
        </p:spPr>
        <p:txBody>
          <a:bodyPr wrap="square" lIns="0" tIns="0" rIns="0" bIns="0">
            <a:spAutoFit/>
          </a:bodyPr>
          <a:lstStyle/>
          <a:p>
            <a:pPr rtl="0">
              <a:lnSpc>
                <a:spcPct val="142000"/>
              </a:lnSpc>
            </a:pPr>
            <a:r>
              <a:rPr sz="1500" b="0" i="0">
                <a:solidFill>
                  <a:srgbClr val="16211C"/>
                </a:solidFill>
                <a:latin typeface="Calibri"/>
              </a:rPr>
              <a:t>Le soir, le week-end, ou quand un client appelle depuis Montréal à trois heures du matin, une hôtesse virtuelle prend le relais.</a:t>
            </a:r>
          </a:p>
          <a:p>
            <a:pPr rtl="0">
              <a:lnSpc>
                <a:spcPct val="142000"/>
              </a:lnSpc>
              <a:spcBef>
                <a:spcPts val="1200"/>
              </a:spcBef>
            </a:pPr>
            <a:r>
              <a:rPr sz="1500" b="0" i="0">
                <a:solidFill>
                  <a:srgbClr val="16211C"/>
                </a:solidFill>
                <a:latin typeface="Calibri"/>
              </a:rPr>
              <a:t>Le lendemain matin, le commercial retrouve le message dans son espace, avec la transcription et le numéro : il rappelle en connaissant déjà la demande. Aucun appel ne tombe dans le vide.</a:t>
            </a:r>
          </a:p>
        </p:txBody>
      </p:sp>
      <p:pic>
        <p:nvPicPr>
          <p:cNvPr id="7" name="Picture 6" descr="415f07550bae6e5734f3f6d7e139c1225ef1ce97.jpg"/>
          <p:cNvPicPr>
            <a:picLocks noChangeAspect="1"/>
          </p:cNvPicPr>
          <p:nvPr/>
        </p:nvPicPr>
        <p:blipFill>
          <a:blip r:embed="rId5"/>
          <a:stretch>
            <a:fillRect/>
          </a:stretch>
        </p:blipFill>
        <p:spPr>
          <a:xfrm>
            <a:off x="5897880" y="1316450"/>
            <a:ext cx="5516575" cy="3447859"/>
          </a:xfrm>
          <a:prstGeom prst="rect">
            <a:avLst/>
          </a:prstGeom>
          <a:ln w="9525">
            <a:solidFill>
              <a:srgbClr val="E2DCD2"/>
            </a:solidFill>
          </a:ln>
        </p:spPr>
      </p:pic>
      <p:sp>
        <p:nvSpPr>
          <p:cNvPr id="8" name="TextBox 7"/>
          <p:cNvSpPr txBox="1"/>
          <p:nvPr/>
        </p:nvSpPr>
        <p:spPr>
          <a:xfrm>
            <a:off x="5897880" y="5413248"/>
            <a:ext cx="5516575" cy="822960"/>
          </a:xfrm>
          <a:prstGeom prst="rect">
            <a:avLst/>
          </a:prstGeom>
          <a:noFill/>
        </p:spPr>
        <p:txBody>
          <a:bodyPr wrap="square" lIns="0" tIns="0" rIns="0" bIns="0">
            <a:spAutoFit/>
          </a:bodyPr>
          <a:lstStyle/>
          <a:p>
            <a:pPr rtl="0">
              <a:lnSpc>
                <a:spcPct val="125000"/>
              </a:lnSpc>
            </a:pPr>
            <a:r>
              <a:rPr sz="1050" b="0" i="1">
                <a:solidFill>
                  <a:srgbClr val="6D766F"/>
                </a:solidFill>
                <a:latin typeface="Calibri"/>
              </a:rPr>
              <a:t>Le bureau de vente en visite virtuelle, avec le bouton « Parler à l’hôtesse ». Le client pousse la porte avant de se déplacer.</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13</a:t>
            </a:r>
          </a:p>
        </p:txBody>
      </p:sp>
      <p:pic>
        <p:nvPicPr>
          <p:cNvPr id="11" name="diapo-13-bd31e258d2">
            <a:hlinkClick r:id="" action="ppaction://media"/>
            <a:extLst>
              <a:ext uri="{FF2B5EF4-FFF2-40B4-BE49-F238E27FC236}">
                <a16:creationId xmlns:a16="http://schemas.microsoft.com/office/drawing/2014/main" id="{602B3610-E87E-7D32-B82F-409CA78D4B2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200"/>
    </mc:Choice>
    <mc:Fallback>
      <p:transition spd="slow" advTm="44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00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4480560"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CE QUI CHANGE POUR LES ÉQUIPES</a:t>
            </a:r>
          </a:p>
        </p:txBody>
      </p:sp>
      <p:sp>
        <p:nvSpPr>
          <p:cNvPr id="4" name="TextBox 3"/>
          <p:cNvSpPr txBox="1"/>
          <p:nvPr/>
        </p:nvSpPr>
        <p:spPr>
          <a:xfrm>
            <a:off x="777240" y="1106424"/>
            <a:ext cx="4480560"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L’espace commercial</a:t>
            </a:r>
          </a:p>
        </p:txBody>
      </p:sp>
      <p:sp>
        <p:nvSpPr>
          <p:cNvPr id="5" name="Rectangle 4"/>
          <p:cNvSpPr/>
          <p:nvPr/>
        </p:nvSpPr>
        <p:spPr>
          <a:xfrm>
            <a:off x="777240"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75688"/>
            <a:ext cx="4480560" cy="3867912"/>
          </a:xfrm>
          <a:prstGeom prst="rect">
            <a:avLst/>
          </a:prstGeom>
          <a:noFill/>
        </p:spPr>
        <p:txBody>
          <a:bodyPr wrap="square" lIns="0" tIns="0" rIns="0" bIns="0">
            <a:spAutoFit/>
          </a:bodyPr>
          <a:lstStyle/>
          <a:p>
            <a:pPr rtl="0">
              <a:lnSpc>
                <a:spcPct val="142000"/>
              </a:lnSpc>
            </a:pPr>
            <a:r>
              <a:rPr sz="1500" b="0" i="0">
                <a:solidFill>
                  <a:srgbClr val="16211C"/>
                </a:solidFill>
                <a:latin typeface="Calibri"/>
              </a:rPr>
              <a:t>Chaque conseiller dispose de son espace : il s’y déclare présent, reçoit les demandes des visiteurs orientés par l’hôtesse, y trouve les messages vocaux et écrits laissés en son absence, et peut y monter lui-même une visite 360° à partir de ses photos, sans logiciel à installer.</a:t>
            </a:r>
          </a:p>
        </p:txBody>
      </p:sp>
      <p:pic>
        <p:nvPicPr>
          <p:cNvPr id="7" name="Picture 6" descr="f7f76697c0c41d975920a4c6e98be806e0a20b07.jpg"/>
          <p:cNvPicPr>
            <a:picLocks noChangeAspect="1"/>
          </p:cNvPicPr>
          <p:nvPr/>
        </p:nvPicPr>
        <p:blipFill>
          <a:blip r:embed="rId5"/>
          <a:stretch>
            <a:fillRect/>
          </a:stretch>
        </p:blipFill>
        <p:spPr>
          <a:xfrm>
            <a:off x="5897880" y="1316450"/>
            <a:ext cx="5516575" cy="3447859"/>
          </a:xfrm>
          <a:prstGeom prst="rect">
            <a:avLst/>
          </a:prstGeom>
          <a:ln w="9525">
            <a:solidFill>
              <a:srgbClr val="E2DCD2"/>
            </a:solidFill>
          </a:ln>
        </p:spPr>
      </p:pic>
      <p:sp>
        <p:nvSpPr>
          <p:cNvPr id="8" name="TextBox 7"/>
          <p:cNvSpPr txBox="1"/>
          <p:nvPr/>
        </p:nvSpPr>
        <p:spPr>
          <a:xfrm>
            <a:off x="5897880" y="5413248"/>
            <a:ext cx="5516575" cy="822960"/>
          </a:xfrm>
          <a:prstGeom prst="rect">
            <a:avLst/>
          </a:prstGeom>
          <a:noFill/>
        </p:spPr>
        <p:txBody>
          <a:bodyPr wrap="square" lIns="0" tIns="0" rIns="0" bIns="0">
            <a:spAutoFit/>
          </a:bodyPr>
          <a:lstStyle/>
          <a:p>
            <a:pPr rtl="0">
              <a:lnSpc>
                <a:spcPct val="125000"/>
              </a:lnSpc>
            </a:pPr>
            <a:r>
              <a:rPr sz="1050" b="0" i="1">
                <a:solidFill>
                  <a:srgbClr val="6D766F"/>
                </a:solidFill>
                <a:latin typeface="Calibri"/>
              </a:rPr>
              <a:t>L’espace commercial en arabe : depuis août 2026, l’interface de travail est traduite dans les quatre langues, sens de lecture compris.</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14</a:t>
            </a:r>
          </a:p>
        </p:txBody>
      </p:sp>
      <p:pic>
        <p:nvPicPr>
          <p:cNvPr id="11" name="diapo-14-ee1d50a95d">
            <a:hlinkClick r:id="" action="ppaction://media"/>
            <a:extLst>
              <a:ext uri="{FF2B5EF4-FFF2-40B4-BE49-F238E27FC236}">
                <a16:creationId xmlns:a16="http://schemas.microsoft.com/office/drawing/2014/main" id="{70B8477A-41E2-2E1C-791F-F063F3992CA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200"/>
    </mc:Choice>
    <mc:Fallback>
      <p:transition spd="slow" advTm="32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96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4480560"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CE QUI CHANGE POUR LES ÉQUIPES</a:t>
            </a:r>
          </a:p>
        </p:txBody>
      </p:sp>
      <p:sp>
        <p:nvSpPr>
          <p:cNvPr id="4" name="TextBox 3"/>
          <p:cNvSpPr txBox="1"/>
          <p:nvPr/>
        </p:nvSpPr>
        <p:spPr>
          <a:xfrm>
            <a:off x="777240" y="1106424"/>
            <a:ext cx="4480560"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L’administration</a:t>
            </a:r>
          </a:p>
        </p:txBody>
      </p:sp>
      <p:sp>
        <p:nvSpPr>
          <p:cNvPr id="5" name="Rectangle 4"/>
          <p:cNvSpPr/>
          <p:nvPr/>
        </p:nvSpPr>
        <p:spPr>
          <a:xfrm>
            <a:off x="777240"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75688"/>
            <a:ext cx="4480560" cy="3867912"/>
          </a:xfrm>
          <a:prstGeom prst="rect">
            <a:avLst/>
          </a:prstGeom>
          <a:noFill/>
        </p:spPr>
        <p:txBody>
          <a:bodyPr wrap="square" lIns="0" tIns="0" rIns="0" bIns="0">
            <a:spAutoFit/>
          </a:bodyPr>
          <a:lstStyle/>
          <a:p>
            <a:pPr rtl="0">
              <a:lnSpc>
                <a:spcPct val="142000"/>
              </a:lnSpc>
            </a:pPr>
            <a:r>
              <a:rPr sz="1500" b="0" i="0">
                <a:solidFill>
                  <a:srgbClr val="16211C"/>
                </a:solidFill>
                <a:latin typeface="Calibri"/>
              </a:rPr>
              <a:t>Tout ce que voit le client se pilote depuis une administration, sans toucher au code : projets et descriptions dans les quatre langues, photos, vidéos, visites 360°, points d’intérêt, zones cliquables des plans, fiches clients, comptes des conseillers.</a:t>
            </a:r>
          </a:p>
        </p:txBody>
      </p:sp>
      <p:pic>
        <p:nvPicPr>
          <p:cNvPr id="7" name="Picture 6" descr="6cc87c0fb237a60d2f391c4f8e3f4d8247ccd327.jpg"/>
          <p:cNvPicPr>
            <a:picLocks noChangeAspect="1"/>
          </p:cNvPicPr>
          <p:nvPr/>
        </p:nvPicPr>
        <p:blipFill>
          <a:blip r:embed="rId5"/>
          <a:stretch>
            <a:fillRect/>
          </a:stretch>
        </p:blipFill>
        <p:spPr>
          <a:xfrm>
            <a:off x="5897880" y="1124903"/>
            <a:ext cx="5516575" cy="3830954"/>
          </a:xfrm>
          <a:prstGeom prst="rect">
            <a:avLst/>
          </a:prstGeom>
          <a:ln w="9525">
            <a:solidFill>
              <a:srgbClr val="E2DCD2"/>
            </a:solidFill>
          </a:ln>
        </p:spPr>
      </p:pic>
      <p:sp>
        <p:nvSpPr>
          <p:cNvPr id="8" name="TextBox 7"/>
          <p:cNvSpPr txBox="1"/>
          <p:nvPr/>
        </p:nvSpPr>
        <p:spPr>
          <a:xfrm>
            <a:off x="5897880" y="5413248"/>
            <a:ext cx="5516575" cy="822960"/>
          </a:xfrm>
          <a:prstGeom prst="rect">
            <a:avLst/>
          </a:prstGeom>
          <a:noFill/>
        </p:spPr>
        <p:txBody>
          <a:bodyPr wrap="square" lIns="0" tIns="0" rIns="0" bIns="0">
            <a:spAutoFit/>
          </a:bodyPr>
          <a:lstStyle/>
          <a:p>
            <a:pPr rtl="0">
              <a:lnSpc>
                <a:spcPct val="125000"/>
              </a:lnSpc>
            </a:pPr>
            <a:r>
              <a:rPr sz="1050" b="0" i="1">
                <a:solidFill>
                  <a:srgbClr val="6D766F"/>
                </a:solidFill>
                <a:latin typeface="Calibri"/>
              </a:rPr>
              <a:t>La grille de commercialisation dans l’administration, en arabe : 130 logements, statuts et prix modifiables en un clic.</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15</a:t>
            </a:r>
          </a:p>
        </p:txBody>
      </p:sp>
      <p:pic>
        <p:nvPicPr>
          <p:cNvPr id="11" name="diapo-15-ff609d2ef1">
            <a:hlinkClick r:id="" action="ppaction://media"/>
            <a:extLst>
              <a:ext uri="{FF2B5EF4-FFF2-40B4-BE49-F238E27FC236}">
                <a16:creationId xmlns:a16="http://schemas.microsoft.com/office/drawing/2014/main" id="{8CAF94FD-3B79-513F-3CA9-7F544E326A2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800"/>
    </mc:Choice>
    <mc:Fallback>
      <p:transition spd="slow" advTm="44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56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4480560"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CE QUI CHANGE POUR LES ÉQUIPES</a:t>
            </a:r>
          </a:p>
        </p:txBody>
      </p:sp>
      <p:sp>
        <p:nvSpPr>
          <p:cNvPr id="4" name="TextBox 3"/>
          <p:cNvSpPr txBox="1"/>
          <p:nvPr/>
        </p:nvSpPr>
        <p:spPr>
          <a:xfrm>
            <a:off x="777240" y="1106424"/>
            <a:ext cx="4480560"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La fiche client</a:t>
            </a:r>
          </a:p>
        </p:txBody>
      </p:sp>
      <p:sp>
        <p:nvSpPr>
          <p:cNvPr id="5" name="Rectangle 4"/>
          <p:cNvSpPr/>
          <p:nvPr/>
        </p:nvSpPr>
        <p:spPr>
          <a:xfrm>
            <a:off x="777240"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75688"/>
            <a:ext cx="4480560" cy="3867912"/>
          </a:xfrm>
          <a:prstGeom prst="rect">
            <a:avLst/>
          </a:prstGeom>
          <a:noFill/>
        </p:spPr>
        <p:txBody>
          <a:bodyPr wrap="square" lIns="0" tIns="0" rIns="0" bIns="0">
            <a:spAutoFit/>
          </a:bodyPr>
          <a:lstStyle/>
          <a:p>
            <a:pPr rtl="0">
              <a:lnSpc>
                <a:spcPct val="142000"/>
              </a:lnSpc>
            </a:pPr>
            <a:r>
              <a:rPr sz="1500" b="0" i="0">
                <a:solidFill>
                  <a:srgbClr val="16211C"/>
                </a:solidFill>
                <a:latin typeface="Calibri"/>
              </a:rPr>
              <a:t>Le formulaire papier devient un écran. Le conseiller photographie le dos de la carte nationale : le nom, le prénom, le numéro et la validité se remplissent seuls.</a:t>
            </a:r>
          </a:p>
        </p:txBody>
      </p:sp>
      <p:pic>
        <p:nvPicPr>
          <p:cNvPr id="7" name="Picture 6" descr="ca8fab2edf635b8df2374f1ad19ff2f521400b03.jpg"/>
          <p:cNvPicPr>
            <a:picLocks noChangeAspect="1"/>
          </p:cNvPicPr>
          <p:nvPr/>
        </p:nvPicPr>
        <p:blipFill>
          <a:blip r:embed="rId5"/>
          <a:stretch>
            <a:fillRect/>
          </a:stretch>
        </p:blipFill>
        <p:spPr>
          <a:xfrm>
            <a:off x="5897880" y="933355"/>
            <a:ext cx="5516575" cy="4214050"/>
          </a:xfrm>
          <a:prstGeom prst="rect">
            <a:avLst/>
          </a:prstGeom>
          <a:ln w="9525">
            <a:solidFill>
              <a:srgbClr val="E2DCD2"/>
            </a:solidFill>
          </a:ln>
        </p:spPr>
      </p:pic>
      <p:sp>
        <p:nvSpPr>
          <p:cNvPr id="8" name="TextBox 7"/>
          <p:cNvSpPr txBox="1"/>
          <p:nvPr/>
        </p:nvSpPr>
        <p:spPr>
          <a:xfrm>
            <a:off x="5897880" y="5413248"/>
            <a:ext cx="5516575" cy="822960"/>
          </a:xfrm>
          <a:prstGeom prst="rect">
            <a:avLst/>
          </a:prstGeom>
          <a:noFill/>
        </p:spPr>
        <p:txBody>
          <a:bodyPr wrap="square" lIns="0" tIns="0" rIns="0" bIns="0">
            <a:spAutoFit/>
          </a:bodyPr>
          <a:lstStyle/>
          <a:p>
            <a:pPr rtl="0">
              <a:lnSpc>
                <a:spcPct val="125000"/>
              </a:lnSpc>
            </a:pPr>
            <a:r>
              <a:rPr sz="1050" b="0" i="1">
                <a:solidFill>
                  <a:srgbClr val="6D766F"/>
                </a:solidFill>
                <a:latin typeface="Calibri"/>
              </a:rPr>
              <a:t>La fiche de renseignement, en français et en arabe, avec lecture automatique de la carte nationale.</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16</a:t>
            </a:r>
          </a:p>
        </p:txBody>
      </p:sp>
      <p:pic>
        <p:nvPicPr>
          <p:cNvPr id="11" name="diapo-16-7401704893">
            <a:hlinkClick r:id="" action="ppaction://media"/>
            <a:extLst>
              <a:ext uri="{FF2B5EF4-FFF2-40B4-BE49-F238E27FC236}">
                <a16:creationId xmlns:a16="http://schemas.microsoft.com/office/drawing/2014/main" id="{89C76DDA-7865-CA89-8419-CDE34659AA2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800"/>
    </mc:Choice>
    <mc:Fallback>
      <p:transition spd="slow" advTm="32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60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9174175"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Les bornes tactiles en agence</a:t>
            </a:r>
          </a:p>
        </p:txBody>
      </p:sp>
      <p:sp>
        <p:nvSpPr>
          <p:cNvPr id="4" name="Rectangle 3"/>
          <p:cNvSpPr/>
          <p:nvPr/>
        </p:nvSpPr>
        <p:spPr>
          <a:xfrm>
            <a:off x="777240" y="1271016"/>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655064"/>
            <a:ext cx="9174175" cy="4288536"/>
          </a:xfrm>
          <a:prstGeom prst="rect">
            <a:avLst/>
          </a:prstGeom>
          <a:noFill/>
        </p:spPr>
        <p:txBody>
          <a:bodyPr wrap="square" lIns="0" tIns="0" rIns="0" bIns="0">
            <a:spAutoFit/>
          </a:bodyPr>
          <a:lstStyle/>
          <a:p>
            <a:pPr rtl="0">
              <a:lnSpc>
                <a:spcPct val="142000"/>
              </a:lnSpc>
            </a:pPr>
            <a:r>
              <a:rPr sz="1600" b="0" i="0">
                <a:solidFill>
                  <a:srgbClr val="16211C"/>
                </a:solidFill>
                <a:latin typeface="Calibri"/>
              </a:rPr>
              <a:t>Tout ce qui précède fonctionne déjà sur un téléphone et sur un ordinateur. La borne tactile ajoute ce qu’aucun écran personnel ne donne : deux personnes debout devant le même plan, à taille réelle, dans l’agence.</a:t>
            </a:r>
          </a:p>
        </p:txBody>
      </p:sp>
      <p:sp>
        <p:nvSpPr>
          <p:cNvPr id="6" name="Rectangle 5"/>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17</a:t>
            </a:r>
          </a:p>
        </p:txBody>
      </p:sp>
      <p:pic>
        <p:nvPicPr>
          <p:cNvPr id="8" name="diapo-17-57714b31b8">
            <a:hlinkClick r:id="" action="ppaction://media"/>
            <a:extLst>
              <a:ext uri="{FF2B5EF4-FFF2-40B4-BE49-F238E27FC236}">
                <a16:creationId xmlns:a16="http://schemas.microsoft.com/office/drawing/2014/main" id="{EC4C15BC-0D11-CDF5-CE1C-45D0D97E26B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600"/>
    </mc:Choice>
    <mc:Fallback>
      <p:transition spd="slow" advTm="18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74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9539935"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LES BORNES TACTILES EN AGENCE</a:t>
            </a:r>
          </a:p>
        </p:txBody>
      </p:sp>
      <p:sp>
        <p:nvSpPr>
          <p:cNvPr id="4" name="TextBox 3"/>
          <p:cNvSpPr txBox="1"/>
          <p:nvPr/>
        </p:nvSpPr>
        <p:spPr>
          <a:xfrm>
            <a:off x="777240" y="1106424"/>
            <a:ext cx="9539935"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Ce que la borne apporte</a:t>
            </a:r>
          </a:p>
        </p:txBody>
      </p:sp>
      <p:sp>
        <p:nvSpPr>
          <p:cNvPr id="5" name="Rectangle 4"/>
          <p:cNvSpPr/>
          <p:nvPr/>
        </p:nvSpPr>
        <p:spPr>
          <a:xfrm>
            <a:off x="777240"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75688"/>
            <a:ext cx="9539935" cy="3867912"/>
          </a:xfrm>
          <a:prstGeom prst="rect">
            <a:avLst/>
          </a:prstGeom>
          <a:noFill/>
        </p:spPr>
        <p:txBody>
          <a:bodyPr wrap="square" lIns="0" tIns="0" rIns="0" bIns="0">
            <a:spAutoFit/>
          </a:bodyPr>
          <a:lstStyle/>
          <a:p>
            <a:pPr marL="236220" indent="-236220" rtl="0">
              <a:lnSpc>
                <a:spcPct val="135000"/>
              </a:lnSpc>
              <a:buClr>
                <a:srgbClr val="BD6B16"/>
              </a:buClr>
              <a:buSzPct val="90000"/>
              <a:buFont typeface="Arial"/>
              <a:buChar char="▪"/>
            </a:pPr>
            <a:r>
              <a:rPr sz="1600" b="0" i="0">
                <a:solidFill>
                  <a:srgbClr val="16211C"/>
                </a:solidFill>
                <a:latin typeface="Calibri"/>
              </a:rPr>
              <a:t>Le client manipule le plan lui-même ; le conseiller commente à côté de lui, au lieu de retourner un écran d’ordinateur.</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La carte du quartier se parcourt au doigt, l’école se pointe du doigt, la distance s’affiche.</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La visite 360° occupe tout l’écran : on regarde l’appartement, on ne regarde plus une brochure.</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Le logement se choisit sur place, avec le statut réel, et la fiche client se remplit dans la foulée par lecture de la carte nationale.</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L’attente à l’accueil devient du temps utile : le visiteur explore seul pendant que le conseiller termine un rendez-vous.</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18</a:t>
            </a:r>
          </a:p>
        </p:txBody>
      </p:sp>
      <p:pic>
        <p:nvPicPr>
          <p:cNvPr id="9" name="diapo-18-f753ac8c92">
            <a:hlinkClick r:id="" action="ppaction://media"/>
            <a:extLst>
              <a:ext uri="{FF2B5EF4-FFF2-40B4-BE49-F238E27FC236}">
                <a16:creationId xmlns:a16="http://schemas.microsoft.com/office/drawing/2014/main" id="{4B5808FF-9D21-27BF-1D77-B298F00E091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900"/>
    </mc:Choice>
    <mc:Fallback>
      <p:transition spd="slow" advTm="39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712"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4480560"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LES BORNES TACTILES EN AGENCE</a:t>
            </a:r>
          </a:p>
        </p:txBody>
      </p:sp>
      <p:sp>
        <p:nvSpPr>
          <p:cNvPr id="4" name="TextBox 3"/>
          <p:cNvSpPr txBox="1"/>
          <p:nvPr/>
        </p:nvSpPr>
        <p:spPr>
          <a:xfrm>
            <a:off x="777240" y="1106424"/>
            <a:ext cx="4480560"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Ce qu’elle remplace</a:t>
            </a:r>
          </a:p>
        </p:txBody>
      </p:sp>
      <p:sp>
        <p:nvSpPr>
          <p:cNvPr id="5" name="Rectangle 4"/>
          <p:cNvSpPr/>
          <p:nvPr/>
        </p:nvSpPr>
        <p:spPr>
          <a:xfrm>
            <a:off x="777240"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75688"/>
            <a:ext cx="4480560" cy="3867912"/>
          </a:xfrm>
          <a:prstGeom prst="rect">
            <a:avLst/>
          </a:prstGeom>
          <a:noFill/>
        </p:spPr>
        <p:txBody>
          <a:bodyPr wrap="square" lIns="0" tIns="0" rIns="0" bIns="0">
            <a:spAutoFit/>
          </a:bodyPr>
          <a:lstStyle/>
          <a:p>
            <a:pPr rtl="0">
              <a:lnSpc>
                <a:spcPct val="142000"/>
              </a:lnSpc>
            </a:pPr>
            <a:r>
              <a:rPr sz="1500" b="0" i="0">
                <a:solidFill>
                  <a:srgbClr val="16211C"/>
                </a:solidFill>
                <a:latin typeface="Calibri"/>
              </a:rPr>
              <a:t>Les brochures imprimées qui vieillissent, les plans papier annotés au crayon, le tableau des disponibilités qu’il faut corriger à la main, et la phrase que tout acheteur a déjà entendue : « je vous rappelle avec les disponibilités ».</a:t>
            </a:r>
          </a:p>
        </p:txBody>
      </p:sp>
      <p:pic>
        <p:nvPicPr>
          <p:cNvPr id="7" name="Picture 6" descr="246197b459c9075f42c60ca07aa488d72b5e6020.jpg"/>
          <p:cNvPicPr>
            <a:picLocks noChangeAspect="1"/>
          </p:cNvPicPr>
          <p:nvPr/>
        </p:nvPicPr>
        <p:blipFill>
          <a:blip r:embed="rId5"/>
          <a:stretch>
            <a:fillRect/>
          </a:stretch>
        </p:blipFill>
        <p:spPr>
          <a:xfrm>
            <a:off x="5897880" y="1488843"/>
            <a:ext cx="5516575" cy="3103073"/>
          </a:xfrm>
          <a:prstGeom prst="rect">
            <a:avLst/>
          </a:prstGeom>
          <a:ln w="9525">
            <a:solidFill>
              <a:srgbClr val="E2DCD2"/>
            </a:solidFill>
          </a:ln>
        </p:spPr>
      </p:pic>
      <p:sp>
        <p:nvSpPr>
          <p:cNvPr id="8" name="TextBox 7"/>
          <p:cNvSpPr txBox="1"/>
          <p:nvPr/>
        </p:nvSpPr>
        <p:spPr>
          <a:xfrm>
            <a:off x="5897880" y="5413248"/>
            <a:ext cx="5516575" cy="822960"/>
          </a:xfrm>
          <a:prstGeom prst="rect">
            <a:avLst/>
          </a:prstGeom>
          <a:noFill/>
        </p:spPr>
        <p:txBody>
          <a:bodyPr wrap="square" lIns="0" tIns="0" rIns="0" bIns="0">
            <a:spAutoFit/>
          </a:bodyPr>
          <a:lstStyle/>
          <a:p>
            <a:pPr rtl="0">
              <a:lnSpc>
                <a:spcPct val="125000"/>
              </a:lnSpc>
            </a:pPr>
            <a:r>
              <a:rPr sz="1050" b="0" i="1">
                <a:solidFill>
                  <a:srgbClr val="6D766F"/>
                </a:solidFill>
                <a:latin typeface="Calibri"/>
              </a:rPr>
              <a:t>Une borne à l’accueil de chaque agence, une table tactile au bureau de vente principal : le même site, en grand.</a:t>
            </a:r>
          </a:p>
        </p:txBody>
      </p:sp>
      <p:sp>
        <p:nvSpPr>
          <p:cNvPr id="9" name="Rectangle 8"/>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19</a:t>
            </a:r>
          </a:p>
        </p:txBody>
      </p:sp>
      <p:pic>
        <p:nvPicPr>
          <p:cNvPr id="11" name="diapo-19-976d0aa5c6">
            <a:hlinkClick r:id="" action="ppaction://media"/>
            <a:extLst>
              <a:ext uri="{FF2B5EF4-FFF2-40B4-BE49-F238E27FC236}">
                <a16:creationId xmlns:a16="http://schemas.microsoft.com/office/drawing/2014/main" id="{59CA15E8-2442-231A-6800-81F282D6CB7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6200"/>
    </mc:Choice>
    <mc:Fallback>
      <p:transition spd="slow" advTm="26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496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9539935"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LES BORNES TACTILES EN AGENCE</a:t>
            </a:r>
          </a:p>
        </p:txBody>
      </p:sp>
      <p:sp>
        <p:nvSpPr>
          <p:cNvPr id="4" name="TextBox 3"/>
          <p:cNvSpPr txBox="1"/>
          <p:nvPr/>
        </p:nvSpPr>
        <p:spPr>
          <a:xfrm>
            <a:off x="777240" y="1106424"/>
            <a:ext cx="9539935"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Ce qu’il faut prévoir</a:t>
            </a:r>
          </a:p>
        </p:txBody>
      </p:sp>
      <p:sp>
        <p:nvSpPr>
          <p:cNvPr id="5" name="Rectangle 4"/>
          <p:cNvSpPr/>
          <p:nvPr/>
        </p:nvSpPr>
        <p:spPr>
          <a:xfrm>
            <a:off x="777240"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75688"/>
            <a:ext cx="9539935" cy="3867912"/>
          </a:xfrm>
          <a:prstGeom prst="rect">
            <a:avLst/>
          </a:prstGeom>
          <a:noFill/>
        </p:spPr>
        <p:txBody>
          <a:bodyPr wrap="square" lIns="0" tIns="0" rIns="0" bIns="0">
            <a:spAutoFit/>
          </a:bodyPr>
          <a:lstStyle/>
          <a:p>
            <a:pPr marL="236220" indent="-236220" rtl="0">
              <a:lnSpc>
                <a:spcPct val="135000"/>
              </a:lnSpc>
              <a:buClr>
                <a:srgbClr val="BD6B16"/>
              </a:buClr>
              <a:buSzPct val="90000"/>
              <a:buFont typeface="Arial"/>
              <a:buChar char="▪"/>
            </a:pPr>
            <a:r>
              <a:rPr sz="1600" b="0" i="0">
                <a:solidFill>
                  <a:srgbClr val="16211C"/>
                </a:solidFill>
                <a:latin typeface="Calibri"/>
              </a:rPr>
              <a:t>Un écran tactile de 43 à 55 pouces avec ordinateur intégré, ou une table tactile pour le bureau de vente principal.</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Le navigateur ouvert en mode kiosque sur narjiss.company : aucune installation, aucun logiciel spécifique, aucune maintenance logicielle.</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Une connexion internet et un point électrique. Le site est déjà conçu pour le tactile : cibles larges, aucune action au survol, contrastes lisibles à deux mètres.</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Le devis matériel est à demander auprès de fournisseurs locaux ; nous n’avançons ici aucun chiffre que nous n’aurions pas vérifié.</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20</a:t>
            </a:r>
          </a:p>
        </p:txBody>
      </p:sp>
      <p:pic>
        <p:nvPicPr>
          <p:cNvPr id="9" name="diapo-20-b971cc5181">
            <a:hlinkClick r:id="" action="ppaction://media"/>
            <a:extLst>
              <a:ext uri="{FF2B5EF4-FFF2-40B4-BE49-F238E27FC236}">
                <a16:creationId xmlns:a16="http://schemas.microsoft.com/office/drawing/2014/main" id="{08A1217E-A06A-0A1A-01E1-C80B360C258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200"/>
    </mc:Choice>
    <mc:Fallback>
      <p:transition spd="slow" advTm="40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048"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10637215"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Comparaison honnête</a:t>
            </a:r>
          </a:p>
        </p:txBody>
      </p:sp>
      <p:sp>
        <p:nvSpPr>
          <p:cNvPr id="4" name="Rectangle 3"/>
          <p:cNvSpPr/>
          <p:nvPr/>
        </p:nvSpPr>
        <p:spPr>
          <a:xfrm>
            <a:off x="777240" y="1271016"/>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655064"/>
            <a:ext cx="10637215" cy="365760"/>
          </a:xfrm>
          <a:prstGeom prst="rect">
            <a:avLst/>
          </a:prstGeom>
          <a:noFill/>
        </p:spPr>
        <p:txBody>
          <a:bodyPr wrap="square" lIns="0" tIns="0" rIns="0" bIns="0">
            <a:spAutoFit/>
          </a:bodyPr>
          <a:lstStyle/>
          <a:p>
            <a:pPr rtl="0">
              <a:lnSpc>
                <a:spcPct val="115000"/>
              </a:lnSpc>
            </a:pPr>
            <a:r>
              <a:rPr sz="1300" b="0" i="0">
                <a:solidFill>
                  <a:srgbClr val="6D766F"/>
                </a:solidFill>
                <a:latin typeface="Calibri"/>
              </a:rPr>
              <a:t>Trois canaux, trois rôles. Le tableau ne dit pas qu’il faut abandonner les deux premiers, mais où chacun s’arrête.</a:t>
            </a:r>
          </a:p>
        </p:txBody>
      </p:sp>
      <p:graphicFrame>
        <p:nvGraphicFramePr>
          <p:cNvPr id="6" name="Table 5"/>
          <p:cNvGraphicFramePr>
            <a:graphicFrameLocks noGrp="1"/>
          </p:cNvGraphicFramePr>
          <p:nvPr/>
        </p:nvGraphicFramePr>
        <p:xfrm>
          <a:off x="777240" y="2157984"/>
          <a:ext cx="10637214" cy="3877056"/>
        </p:xfrm>
        <a:graphic>
          <a:graphicData uri="http://schemas.openxmlformats.org/drawingml/2006/table">
            <a:tbl>
              <a:tblPr>
                <a:tableStyleId>{5C22544A-7EE6-4342-B048-85BDC9FD1C3A}</a:tableStyleId>
              </a:tblPr>
              <a:tblGrid>
                <a:gridCol w="2926080">
                  <a:extLst>
                    <a:ext uri="{9D8B030D-6E8A-4147-A177-3AD203B41FA5}">
                      <a16:colId xmlns:a16="http://schemas.microsoft.com/office/drawing/2014/main" val="20000"/>
                    </a:ext>
                  </a:extLst>
                </a:gridCol>
                <a:gridCol w="2570378">
                  <a:extLst>
                    <a:ext uri="{9D8B030D-6E8A-4147-A177-3AD203B41FA5}">
                      <a16:colId xmlns:a16="http://schemas.microsoft.com/office/drawing/2014/main" val="20001"/>
                    </a:ext>
                  </a:extLst>
                </a:gridCol>
                <a:gridCol w="2570378">
                  <a:extLst>
                    <a:ext uri="{9D8B030D-6E8A-4147-A177-3AD203B41FA5}">
                      <a16:colId xmlns:a16="http://schemas.microsoft.com/office/drawing/2014/main" val="20002"/>
                    </a:ext>
                  </a:extLst>
                </a:gridCol>
                <a:gridCol w="2570378">
                  <a:extLst>
                    <a:ext uri="{9D8B030D-6E8A-4147-A177-3AD203B41FA5}">
                      <a16:colId xmlns:a16="http://schemas.microsoft.com/office/drawing/2014/main" val="20003"/>
                    </a:ext>
                  </a:extLst>
                </a:gridCol>
              </a:tblGrid>
              <a:tr h="298235">
                <a:tc>
                  <a:txBody>
                    <a:bodyPr/>
                    <a:lstStyle/>
                    <a:p>
                      <a:pPr rtl="0"/>
                      <a:endParaRPr/>
                    </a:p>
                  </a:txBody>
                  <a:tcPr marL="82296" marR="82296" anchor="ctr">
                    <a:solidFill>
                      <a:srgbClr val="16211C"/>
                    </a:solidFill>
                  </a:tcPr>
                </a:tc>
                <a:tc>
                  <a:txBody>
                    <a:bodyPr/>
                    <a:lstStyle/>
                    <a:p>
                      <a:pPr rtl="0"/>
                      <a:r>
                        <a:rPr sz="1150" b="1">
                          <a:solidFill>
                            <a:srgbClr val="FFFFFF"/>
                          </a:solidFill>
                          <a:latin typeface="Calibri"/>
                        </a:rPr>
                        <a:t>Site vitrine actuel</a:t>
                      </a:r>
                    </a:p>
                  </a:txBody>
                  <a:tcPr marL="82296" marR="82296" anchor="ctr">
                    <a:solidFill>
                      <a:srgbClr val="16211C"/>
                    </a:solidFill>
                  </a:tcPr>
                </a:tc>
                <a:tc>
                  <a:txBody>
                    <a:bodyPr/>
                    <a:lstStyle/>
                    <a:p>
                      <a:pPr rtl="0"/>
                      <a:r>
                        <a:rPr sz="1150" b="1">
                          <a:solidFill>
                            <a:srgbClr val="FFFFFF"/>
                          </a:solidFill>
                          <a:latin typeface="Calibri"/>
                        </a:rPr>
                        <a:t>Publications Facebook</a:t>
                      </a:r>
                    </a:p>
                  </a:txBody>
                  <a:tcPr marL="82296" marR="82296" anchor="ctr">
                    <a:solidFill>
                      <a:srgbClr val="16211C"/>
                    </a:solidFill>
                  </a:tcPr>
                </a:tc>
                <a:tc>
                  <a:txBody>
                    <a:bodyPr/>
                    <a:lstStyle/>
                    <a:p>
                      <a:pPr rtl="0"/>
                      <a:r>
                        <a:rPr sz="1150" b="1">
                          <a:solidFill>
                            <a:srgbClr val="FFFFFF"/>
                          </a:solidFill>
                          <a:latin typeface="Calibri"/>
                        </a:rPr>
                        <a:t>narjiss.company</a:t>
                      </a:r>
                    </a:p>
                  </a:txBody>
                  <a:tcPr marL="82296" marR="82296" anchor="ctr">
                    <a:solidFill>
                      <a:srgbClr val="16211C"/>
                    </a:solidFill>
                  </a:tcPr>
                </a:tc>
                <a:extLst>
                  <a:ext uri="{0D108BD9-81ED-4DB2-BD59-A6C34878D82A}">
                    <a16:rowId xmlns:a16="http://schemas.microsoft.com/office/drawing/2014/main" val="10000"/>
                  </a:ext>
                </a:extLst>
              </a:tr>
              <a:tr h="298235">
                <a:tc>
                  <a:txBody>
                    <a:bodyPr/>
                    <a:lstStyle/>
                    <a:p>
                      <a:pPr rtl="0"/>
                      <a:r>
                        <a:rPr sz="1050" b="1">
                          <a:solidFill>
                            <a:srgbClr val="16211C"/>
                          </a:solidFill>
                          <a:latin typeface="Calibri"/>
                        </a:rPr>
                        <a:t>Présenter l’entreprise</a:t>
                      </a:r>
                    </a:p>
                  </a:txBody>
                  <a:tcPr marL="82296" marR="82296" marT="27432" marB="27432" anchor="ctr">
                    <a:solidFill>
                      <a:srgbClr val="FAF7F2"/>
                    </a:solidFill>
                  </a:tcPr>
                </a:tc>
                <a:tc>
                  <a:txBody>
                    <a:bodyPr/>
                    <a:lstStyle/>
                    <a:p>
                      <a:pPr rtl="0"/>
                      <a:r>
                        <a:rPr sz="1050" b="0">
                          <a:solidFill>
                            <a:srgbClr val="16211C"/>
                          </a:solidFill>
                          <a:latin typeface="Calibri"/>
                        </a:rPr>
                        <a:t>Oui</a:t>
                      </a:r>
                    </a:p>
                  </a:txBody>
                  <a:tcPr marL="82296" marR="82296" marT="27432" marB="27432" anchor="ctr">
                    <a:solidFill>
                      <a:srgbClr val="FAF7F2"/>
                    </a:solidFill>
                  </a:tcPr>
                </a:tc>
                <a:tc>
                  <a:txBody>
                    <a:bodyPr/>
                    <a:lstStyle/>
                    <a:p>
                      <a:pPr rtl="0"/>
                      <a:r>
                        <a:rPr sz="1050" b="0">
                          <a:solidFill>
                            <a:srgbClr val="16211C"/>
                          </a:solidFill>
                          <a:latin typeface="Calibri"/>
                        </a:rPr>
                        <a:t>Oui</a:t>
                      </a:r>
                    </a:p>
                  </a:txBody>
                  <a:tcPr marL="82296" marR="82296" marT="27432" marB="27432" anchor="ctr">
                    <a:solidFill>
                      <a:srgbClr val="FAF7F2"/>
                    </a:solidFill>
                  </a:tcPr>
                </a:tc>
                <a:tc>
                  <a:txBody>
                    <a:bodyPr/>
                    <a:lstStyle/>
                    <a:p>
                      <a:pPr rtl="0"/>
                      <a:r>
                        <a:rPr sz="1050" b="0">
                          <a:solidFill>
                            <a:srgbClr val="BD6B16"/>
                          </a:solidFill>
                          <a:latin typeface="Calibri"/>
                        </a:rPr>
                        <a:t>Oui</a:t>
                      </a:r>
                    </a:p>
                  </a:txBody>
                  <a:tcPr marL="82296" marR="82296" marT="27432" marB="27432" anchor="ctr">
                    <a:solidFill>
                      <a:srgbClr val="FAF7F2"/>
                    </a:solidFill>
                  </a:tcPr>
                </a:tc>
                <a:extLst>
                  <a:ext uri="{0D108BD9-81ED-4DB2-BD59-A6C34878D82A}">
                    <a16:rowId xmlns:a16="http://schemas.microsoft.com/office/drawing/2014/main" val="10001"/>
                  </a:ext>
                </a:extLst>
              </a:tr>
              <a:tr h="298235">
                <a:tc>
                  <a:txBody>
                    <a:bodyPr/>
                    <a:lstStyle/>
                    <a:p>
                      <a:pPr rtl="0"/>
                      <a:r>
                        <a:rPr sz="1050" b="1">
                          <a:solidFill>
                            <a:srgbClr val="16211C"/>
                          </a:solidFill>
                          <a:latin typeface="Calibri"/>
                        </a:rPr>
                        <a:t>Faire venir du public</a:t>
                      </a:r>
                    </a:p>
                  </a:txBody>
                  <a:tcPr marL="82296" marR="82296" marT="27432" marB="27432" anchor="ctr">
                    <a:solidFill>
                      <a:srgbClr val="FFFFFF"/>
                    </a:solidFill>
                  </a:tcPr>
                </a:tc>
                <a:tc>
                  <a:txBody>
                    <a:bodyPr/>
                    <a:lstStyle/>
                    <a:p>
                      <a:pPr rtl="0"/>
                      <a:r>
                        <a:rPr sz="1050" b="0">
                          <a:solidFill>
                            <a:srgbClr val="16211C"/>
                          </a:solidFill>
                          <a:latin typeface="Calibri"/>
                        </a:rPr>
                        <a:t>Peu</a:t>
                      </a:r>
                    </a:p>
                  </a:txBody>
                  <a:tcPr marL="82296" marR="82296" marT="27432" marB="27432" anchor="ctr">
                    <a:solidFill>
                      <a:srgbClr val="FFFFFF"/>
                    </a:solidFill>
                  </a:tcPr>
                </a:tc>
                <a:tc>
                  <a:txBody>
                    <a:bodyPr/>
                    <a:lstStyle/>
                    <a:p>
                      <a:pPr rtl="0"/>
                      <a:r>
                        <a:rPr sz="1050" b="0">
                          <a:solidFill>
                            <a:srgbClr val="16211C"/>
                          </a:solidFill>
                          <a:latin typeface="Calibri"/>
                        </a:rPr>
                        <a:t>Oui, c’est sa force</a:t>
                      </a:r>
                    </a:p>
                  </a:txBody>
                  <a:tcPr marL="82296" marR="82296" marT="27432" marB="27432" anchor="ctr">
                    <a:solidFill>
                      <a:srgbClr val="FFFFFF"/>
                    </a:solidFill>
                  </a:tcPr>
                </a:tc>
                <a:tc>
                  <a:txBody>
                    <a:bodyPr/>
                    <a:lstStyle/>
                    <a:p>
                      <a:pPr rtl="0"/>
                      <a:r>
                        <a:rPr sz="1050" b="0">
                          <a:solidFill>
                            <a:srgbClr val="BD6B16"/>
                          </a:solidFill>
                          <a:latin typeface="Calibri"/>
                        </a:rPr>
                        <a:t>Oui, par le référencement</a:t>
                      </a:r>
                    </a:p>
                  </a:txBody>
                  <a:tcPr marL="82296" marR="82296" marT="27432" marB="27432" anchor="ctr">
                    <a:solidFill>
                      <a:srgbClr val="FFFFFF"/>
                    </a:solidFill>
                  </a:tcPr>
                </a:tc>
                <a:extLst>
                  <a:ext uri="{0D108BD9-81ED-4DB2-BD59-A6C34878D82A}">
                    <a16:rowId xmlns:a16="http://schemas.microsoft.com/office/drawing/2014/main" val="10002"/>
                  </a:ext>
                </a:extLst>
              </a:tr>
              <a:tr h="298235">
                <a:tc>
                  <a:txBody>
                    <a:bodyPr/>
                    <a:lstStyle/>
                    <a:p>
                      <a:pPr rtl="0"/>
                      <a:r>
                        <a:rPr sz="1050" b="1">
                          <a:solidFill>
                            <a:srgbClr val="16211C"/>
                          </a:solidFill>
                          <a:latin typeface="Calibri"/>
                        </a:rPr>
                        <a:t>Disponibilités à la minute</a:t>
                      </a:r>
                    </a:p>
                  </a:txBody>
                  <a:tcPr marL="82296" marR="82296" marT="27432" marB="27432" anchor="ctr">
                    <a:solidFill>
                      <a:srgbClr val="FAF7F2"/>
                    </a:solidFill>
                  </a:tcPr>
                </a:tc>
                <a:tc>
                  <a:txBody>
                    <a:bodyPr/>
                    <a:lstStyle/>
                    <a:p>
                      <a:pPr rtl="0"/>
                      <a:r>
                        <a:rPr sz="1050" b="0">
                          <a:solidFill>
                            <a:srgbClr val="16211C"/>
                          </a:solidFill>
                          <a:latin typeface="Calibri"/>
                        </a:rPr>
                        <a:t>Non</a:t>
                      </a:r>
                    </a:p>
                  </a:txBody>
                  <a:tcPr marL="82296" marR="82296" marT="27432" marB="27432" anchor="ctr">
                    <a:solidFill>
                      <a:srgbClr val="FAF7F2"/>
                    </a:solidFill>
                  </a:tcPr>
                </a:tc>
                <a:tc>
                  <a:txBody>
                    <a:bodyPr/>
                    <a:lstStyle/>
                    <a:p>
                      <a:pPr rtl="0"/>
                      <a:r>
                        <a:rPr sz="1050" b="0">
                          <a:solidFill>
                            <a:srgbClr val="16211C"/>
                          </a:solidFill>
                          <a:latin typeface="Calibri"/>
                        </a:rPr>
                        <a:t>Non</a:t>
                      </a:r>
                    </a:p>
                  </a:txBody>
                  <a:tcPr marL="82296" marR="82296" marT="27432" marB="27432" anchor="ctr">
                    <a:solidFill>
                      <a:srgbClr val="FAF7F2"/>
                    </a:solidFill>
                  </a:tcPr>
                </a:tc>
                <a:tc>
                  <a:txBody>
                    <a:bodyPr/>
                    <a:lstStyle/>
                    <a:p>
                      <a:pPr rtl="0"/>
                      <a:r>
                        <a:rPr sz="1050" b="0">
                          <a:solidFill>
                            <a:srgbClr val="BD6B16"/>
                          </a:solidFill>
                          <a:latin typeface="Calibri"/>
                        </a:rPr>
                        <a:t>Oui — 454 logements suivis</a:t>
                      </a:r>
                    </a:p>
                  </a:txBody>
                  <a:tcPr marL="82296" marR="82296" marT="27432" marB="27432" anchor="ctr">
                    <a:solidFill>
                      <a:srgbClr val="FAF7F2"/>
                    </a:solidFill>
                  </a:tcPr>
                </a:tc>
                <a:extLst>
                  <a:ext uri="{0D108BD9-81ED-4DB2-BD59-A6C34878D82A}">
                    <a16:rowId xmlns:a16="http://schemas.microsoft.com/office/drawing/2014/main" val="10003"/>
                  </a:ext>
                </a:extLst>
              </a:tr>
              <a:tr h="298235">
                <a:tc>
                  <a:txBody>
                    <a:bodyPr/>
                    <a:lstStyle/>
                    <a:p>
                      <a:pPr rtl="0"/>
                      <a:r>
                        <a:rPr sz="1050" b="1">
                          <a:solidFill>
                            <a:srgbClr val="16211C"/>
                          </a:solidFill>
                          <a:latin typeface="Calibri"/>
                        </a:rPr>
                        <a:t>Prix et surfaces par logement</a:t>
                      </a:r>
                    </a:p>
                  </a:txBody>
                  <a:tcPr marL="82296" marR="82296" marT="27432" marB="27432" anchor="ctr">
                    <a:solidFill>
                      <a:srgbClr val="FFFFFF"/>
                    </a:solidFill>
                  </a:tcPr>
                </a:tc>
                <a:tc>
                  <a:txBody>
                    <a:bodyPr/>
                    <a:lstStyle/>
                    <a:p>
                      <a:pPr rtl="0"/>
                      <a:r>
                        <a:rPr sz="1050" b="0">
                          <a:solidFill>
                            <a:srgbClr val="16211C"/>
                          </a:solidFill>
                          <a:latin typeface="Calibri"/>
                        </a:rPr>
                        <a:t>Non</a:t>
                      </a:r>
                    </a:p>
                  </a:txBody>
                  <a:tcPr marL="82296" marR="82296" marT="27432" marB="27432" anchor="ctr">
                    <a:solidFill>
                      <a:srgbClr val="FFFFFF"/>
                    </a:solidFill>
                  </a:tcPr>
                </a:tc>
                <a:tc>
                  <a:txBody>
                    <a:bodyPr/>
                    <a:lstStyle/>
                    <a:p>
                      <a:pPr rtl="0"/>
                      <a:r>
                        <a:rPr sz="1050" b="0">
                          <a:solidFill>
                            <a:srgbClr val="16211C"/>
                          </a:solidFill>
                          <a:latin typeface="Calibri"/>
                        </a:rPr>
                        <a:t>Non</a:t>
                      </a:r>
                    </a:p>
                  </a:txBody>
                  <a:tcPr marL="82296" marR="82296" marT="27432" marB="27432" anchor="ctr">
                    <a:solidFill>
                      <a:srgbClr val="FFFFFF"/>
                    </a:solidFill>
                  </a:tcPr>
                </a:tc>
                <a:tc>
                  <a:txBody>
                    <a:bodyPr/>
                    <a:lstStyle/>
                    <a:p>
                      <a:pPr rtl="0"/>
                      <a:r>
                        <a:rPr sz="1050" b="0">
                          <a:solidFill>
                            <a:srgbClr val="BD6B16"/>
                          </a:solidFill>
                          <a:latin typeface="Calibri"/>
                        </a:rPr>
                        <a:t>Oui, ou « prix sur demande » au choix</a:t>
                      </a:r>
                    </a:p>
                  </a:txBody>
                  <a:tcPr marL="82296" marR="82296" marT="27432" marB="27432" anchor="ctr">
                    <a:solidFill>
                      <a:srgbClr val="FFFFFF"/>
                    </a:solidFill>
                  </a:tcPr>
                </a:tc>
                <a:extLst>
                  <a:ext uri="{0D108BD9-81ED-4DB2-BD59-A6C34878D82A}">
                    <a16:rowId xmlns:a16="http://schemas.microsoft.com/office/drawing/2014/main" val="10004"/>
                  </a:ext>
                </a:extLst>
              </a:tr>
              <a:tr h="298235">
                <a:tc>
                  <a:txBody>
                    <a:bodyPr/>
                    <a:lstStyle/>
                    <a:p>
                      <a:pPr rtl="0"/>
                      <a:r>
                        <a:rPr sz="1050" b="1">
                          <a:solidFill>
                            <a:srgbClr val="16211C"/>
                          </a:solidFill>
                          <a:latin typeface="Calibri"/>
                        </a:rPr>
                        <a:t>Prouver le quartier</a:t>
                      </a:r>
                    </a:p>
                  </a:txBody>
                  <a:tcPr marL="82296" marR="82296" marT="27432" marB="27432" anchor="ctr">
                    <a:solidFill>
                      <a:srgbClr val="FAF7F2"/>
                    </a:solidFill>
                  </a:tcPr>
                </a:tc>
                <a:tc>
                  <a:txBody>
                    <a:bodyPr/>
                    <a:lstStyle/>
                    <a:p>
                      <a:pPr rtl="0"/>
                      <a:r>
                        <a:rPr sz="1050" b="0">
                          <a:solidFill>
                            <a:srgbClr val="16211C"/>
                          </a:solidFill>
                          <a:latin typeface="Calibri"/>
                        </a:rPr>
                        <a:t>Non</a:t>
                      </a:r>
                    </a:p>
                  </a:txBody>
                  <a:tcPr marL="82296" marR="82296" marT="27432" marB="27432" anchor="ctr">
                    <a:solidFill>
                      <a:srgbClr val="FAF7F2"/>
                    </a:solidFill>
                  </a:tcPr>
                </a:tc>
                <a:tc>
                  <a:txBody>
                    <a:bodyPr/>
                    <a:lstStyle/>
                    <a:p>
                      <a:pPr rtl="0"/>
                      <a:r>
                        <a:rPr sz="1050" b="0">
                          <a:solidFill>
                            <a:srgbClr val="16211C"/>
                          </a:solidFill>
                          <a:latin typeface="Calibri"/>
                        </a:rPr>
                        <a:t>Affirmé, non vérifiable</a:t>
                      </a:r>
                    </a:p>
                  </a:txBody>
                  <a:tcPr marL="82296" marR="82296" marT="27432" marB="27432" anchor="ctr">
                    <a:solidFill>
                      <a:srgbClr val="FAF7F2"/>
                    </a:solidFill>
                  </a:tcPr>
                </a:tc>
                <a:tc>
                  <a:txBody>
                    <a:bodyPr/>
                    <a:lstStyle/>
                    <a:p>
                      <a:pPr rtl="0"/>
                      <a:r>
                        <a:rPr sz="1050" b="0">
                          <a:solidFill>
                            <a:srgbClr val="BD6B16"/>
                          </a:solidFill>
                          <a:latin typeface="Calibri"/>
                        </a:rPr>
                        <a:t>Oui — 900 commodités cartographiées</a:t>
                      </a:r>
                    </a:p>
                  </a:txBody>
                  <a:tcPr marL="82296" marR="82296" marT="27432" marB="27432" anchor="ctr">
                    <a:solidFill>
                      <a:srgbClr val="FAF7F2"/>
                    </a:solidFill>
                  </a:tcPr>
                </a:tc>
                <a:extLst>
                  <a:ext uri="{0D108BD9-81ED-4DB2-BD59-A6C34878D82A}">
                    <a16:rowId xmlns:a16="http://schemas.microsoft.com/office/drawing/2014/main" val="10005"/>
                  </a:ext>
                </a:extLst>
              </a:tr>
              <a:tr h="298235">
                <a:tc>
                  <a:txBody>
                    <a:bodyPr/>
                    <a:lstStyle/>
                    <a:p>
                      <a:pPr rtl="0"/>
                      <a:r>
                        <a:rPr sz="1050" b="1">
                          <a:solidFill>
                            <a:srgbClr val="16211C"/>
                          </a:solidFill>
                          <a:latin typeface="Calibri"/>
                        </a:rPr>
                        <a:t>Visite 360°</a:t>
                      </a:r>
                    </a:p>
                  </a:txBody>
                  <a:tcPr marL="82296" marR="82296" marT="27432" marB="27432" anchor="ctr">
                    <a:solidFill>
                      <a:srgbClr val="FFFFFF"/>
                    </a:solidFill>
                  </a:tcPr>
                </a:tc>
                <a:tc>
                  <a:txBody>
                    <a:bodyPr/>
                    <a:lstStyle/>
                    <a:p>
                      <a:pPr rtl="0"/>
                      <a:r>
                        <a:rPr sz="1050" b="0">
                          <a:solidFill>
                            <a:srgbClr val="16211C"/>
                          </a:solidFill>
                          <a:latin typeface="Calibri"/>
                        </a:rPr>
                        <a:t>Non</a:t>
                      </a:r>
                    </a:p>
                  </a:txBody>
                  <a:tcPr marL="82296" marR="82296" marT="27432" marB="27432" anchor="ctr">
                    <a:solidFill>
                      <a:srgbClr val="FFFFFF"/>
                    </a:solidFill>
                  </a:tcPr>
                </a:tc>
                <a:tc>
                  <a:txBody>
                    <a:bodyPr/>
                    <a:lstStyle/>
                    <a:p>
                      <a:pPr rtl="0"/>
                      <a:r>
                        <a:rPr sz="1050" b="0">
                          <a:solidFill>
                            <a:srgbClr val="16211C"/>
                          </a:solidFill>
                          <a:latin typeface="Calibri"/>
                        </a:rPr>
                        <a:t>Vidéo linéaire</a:t>
                      </a:r>
                    </a:p>
                  </a:txBody>
                  <a:tcPr marL="82296" marR="82296" marT="27432" marB="27432" anchor="ctr">
                    <a:solidFill>
                      <a:srgbClr val="FFFFFF"/>
                    </a:solidFill>
                  </a:tcPr>
                </a:tc>
                <a:tc>
                  <a:txBody>
                    <a:bodyPr/>
                    <a:lstStyle/>
                    <a:p>
                      <a:pPr rtl="0"/>
                      <a:r>
                        <a:rPr sz="1050" b="0">
                          <a:solidFill>
                            <a:srgbClr val="BD6B16"/>
                          </a:solidFill>
                          <a:latin typeface="Calibri"/>
                        </a:rPr>
                        <a:t>Oui, le visiteur dirige le regard</a:t>
                      </a:r>
                    </a:p>
                  </a:txBody>
                  <a:tcPr marL="82296" marR="82296" marT="27432" marB="27432" anchor="ctr">
                    <a:solidFill>
                      <a:srgbClr val="FFFFFF"/>
                    </a:solidFill>
                  </a:tcPr>
                </a:tc>
                <a:extLst>
                  <a:ext uri="{0D108BD9-81ED-4DB2-BD59-A6C34878D82A}">
                    <a16:rowId xmlns:a16="http://schemas.microsoft.com/office/drawing/2014/main" val="10006"/>
                  </a:ext>
                </a:extLst>
              </a:tr>
              <a:tr h="298235">
                <a:tc>
                  <a:txBody>
                    <a:bodyPr/>
                    <a:lstStyle/>
                    <a:p>
                      <a:pPr rtl="0"/>
                      <a:r>
                        <a:rPr sz="1050" b="1">
                          <a:solidFill>
                            <a:srgbClr val="16211C"/>
                          </a:solidFill>
                          <a:latin typeface="Calibri"/>
                        </a:rPr>
                        <a:t>Choisir un logement précis</a:t>
                      </a:r>
                    </a:p>
                  </a:txBody>
                  <a:tcPr marL="82296" marR="82296" marT="27432" marB="27432" anchor="ctr">
                    <a:solidFill>
                      <a:srgbClr val="FAF7F2"/>
                    </a:solidFill>
                  </a:tcPr>
                </a:tc>
                <a:tc>
                  <a:txBody>
                    <a:bodyPr/>
                    <a:lstStyle/>
                    <a:p>
                      <a:pPr rtl="0"/>
                      <a:r>
                        <a:rPr sz="1050" b="0">
                          <a:solidFill>
                            <a:srgbClr val="16211C"/>
                          </a:solidFill>
                          <a:latin typeface="Calibri"/>
                        </a:rPr>
                        <a:t>Non</a:t>
                      </a:r>
                    </a:p>
                  </a:txBody>
                  <a:tcPr marL="82296" marR="82296" marT="27432" marB="27432" anchor="ctr">
                    <a:solidFill>
                      <a:srgbClr val="FAF7F2"/>
                    </a:solidFill>
                  </a:tcPr>
                </a:tc>
                <a:tc>
                  <a:txBody>
                    <a:bodyPr/>
                    <a:lstStyle/>
                    <a:p>
                      <a:pPr rtl="0"/>
                      <a:r>
                        <a:rPr sz="1050" b="0">
                          <a:solidFill>
                            <a:srgbClr val="16211C"/>
                          </a:solidFill>
                          <a:latin typeface="Calibri"/>
                        </a:rPr>
                        <a:t>Non</a:t>
                      </a:r>
                    </a:p>
                  </a:txBody>
                  <a:tcPr marL="82296" marR="82296" marT="27432" marB="27432" anchor="ctr">
                    <a:solidFill>
                      <a:srgbClr val="FAF7F2"/>
                    </a:solidFill>
                  </a:tcPr>
                </a:tc>
                <a:tc>
                  <a:txBody>
                    <a:bodyPr/>
                    <a:lstStyle/>
                    <a:p>
                      <a:pPr rtl="0"/>
                      <a:r>
                        <a:rPr sz="1050" b="0">
                          <a:solidFill>
                            <a:srgbClr val="BD6B16"/>
                          </a:solidFill>
                          <a:latin typeface="Calibri"/>
                        </a:rPr>
                        <a:t>Oui, sur le plan de masse</a:t>
                      </a:r>
                    </a:p>
                  </a:txBody>
                  <a:tcPr marL="82296" marR="82296" marT="27432" marB="27432" anchor="ctr">
                    <a:solidFill>
                      <a:srgbClr val="FAF7F2"/>
                    </a:solidFill>
                  </a:tcPr>
                </a:tc>
                <a:extLst>
                  <a:ext uri="{0D108BD9-81ED-4DB2-BD59-A6C34878D82A}">
                    <a16:rowId xmlns:a16="http://schemas.microsoft.com/office/drawing/2014/main" val="10007"/>
                  </a:ext>
                </a:extLst>
              </a:tr>
              <a:tr h="298235">
                <a:tc>
                  <a:txBody>
                    <a:bodyPr/>
                    <a:lstStyle/>
                    <a:p>
                      <a:pPr rtl="0"/>
                      <a:r>
                        <a:rPr sz="1050" b="1">
                          <a:solidFill>
                            <a:srgbClr val="16211C"/>
                          </a:solidFill>
                          <a:latin typeface="Calibri"/>
                        </a:rPr>
                        <a:t>Quatre langues</a:t>
                      </a:r>
                    </a:p>
                  </a:txBody>
                  <a:tcPr marL="82296" marR="82296" marT="27432" marB="27432" anchor="ctr">
                    <a:solidFill>
                      <a:srgbClr val="FFFFFF"/>
                    </a:solidFill>
                  </a:tcPr>
                </a:tc>
                <a:tc>
                  <a:txBody>
                    <a:bodyPr/>
                    <a:lstStyle/>
                    <a:p>
                      <a:pPr rtl="0"/>
                      <a:r>
                        <a:rPr sz="1050" b="0">
                          <a:solidFill>
                            <a:srgbClr val="16211C"/>
                          </a:solidFill>
                          <a:latin typeface="Calibri"/>
                        </a:rPr>
                        <a:t>Partiellement</a:t>
                      </a:r>
                    </a:p>
                  </a:txBody>
                  <a:tcPr marL="82296" marR="82296" marT="27432" marB="27432" anchor="ctr">
                    <a:solidFill>
                      <a:srgbClr val="FFFFFF"/>
                    </a:solidFill>
                  </a:tcPr>
                </a:tc>
                <a:tc>
                  <a:txBody>
                    <a:bodyPr/>
                    <a:lstStyle/>
                    <a:p>
                      <a:pPr rtl="0"/>
                      <a:r>
                        <a:rPr sz="1050" b="0">
                          <a:solidFill>
                            <a:srgbClr val="16211C"/>
                          </a:solidFill>
                          <a:latin typeface="Calibri"/>
                        </a:rPr>
                        <a:t>Une par publication</a:t>
                      </a:r>
                    </a:p>
                  </a:txBody>
                  <a:tcPr marL="82296" marR="82296" marT="27432" marB="27432" anchor="ctr">
                    <a:solidFill>
                      <a:srgbClr val="FFFFFF"/>
                    </a:solidFill>
                  </a:tcPr>
                </a:tc>
                <a:tc>
                  <a:txBody>
                    <a:bodyPr/>
                    <a:lstStyle/>
                    <a:p>
                      <a:pPr rtl="0"/>
                      <a:r>
                        <a:rPr sz="1050" b="0">
                          <a:solidFill>
                            <a:srgbClr val="BD6B16"/>
                          </a:solidFill>
                          <a:latin typeface="Calibri"/>
                        </a:rPr>
                        <a:t>Oui, tout le site et l’administration</a:t>
                      </a:r>
                    </a:p>
                  </a:txBody>
                  <a:tcPr marL="82296" marR="82296" marT="27432" marB="27432" anchor="ctr">
                    <a:solidFill>
                      <a:srgbClr val="FFFFFF"/>
                    </a:solidFill>
                  </a:tcPr>
                </a:tc>
                <a:extLst>
                  <a:ext uri="{0D108BD9-81ED-4DB2-BD59-A6C34878D82A}">
                    <a16:rowId xmlns:a16="http://schemas.microsoft.com/office/drawing/2014/main" val="10008"/>
                  </a:ext>
                </a:extLst>
              </a:tr>
              <a:tr h="298235">
                <a:tc>
                  <a:txBody>
                    <a:bodyPr/>
                    <a:lstStyle/>
                    <a:p>
                      <a:pPr rtl="0"/>
                      <a:r>
                        <a:rPr sz="1050" b="1">
                          <a:solidFill>
                            <a:srgbClr val="16211C"/>
                          </a:solidFill>
                          <a:latin typeface="Calibri"/>
                        </a:rPr>
                        <a:t>Conseiller à distance</a:t>
                      </a:r>
                    </a:p>
                  </a:txBody>
                  <a:tcPr marL="82296" marR="82296" marT="27432" marB="27432" anchor="ctr">
                    <a:solidFill>
                      <a:srgbClr val="FAF7F2"/>
                    </a:solidFill>
                  </a:tcPr>
                </a:tc>
                <a:tc>
                  <a:txBody>
                    <a:bodyPr/>
                    <a:lstStyle/>
                    <a:p>
                      <a:pPr rtl="0"/>
                      <a:r>
                        <a:rPr sz="1050" b="0">
                          <a:solidFill>
                            <a:srgbClr val="16211C"/>
                          </a:solidFill>
                          <a:latin typeface="Calibri"/>
                        </a:rPr>
                        <a:t>Non</a:t>
                      </a:r>
                    </a:p>
                  </a:txBody>
                  <a:tcPr marL="82296" marR="82296" marT="27432" marB="27432" anchor="ctr">
                    <a:solidFill>
                      <a:srgbClr val="FAF7F2"/>
                    </a:solidFill>
                  </a:tcPr>
                </a:tc>
                <a:tc>
                  <a:txBody>
                    <a:bodyPr/>
                    <a:lstStyle/>
                    <a:p>
                      <a:pPr rtl="0"/>
                      <a:r>
                        <a:rPr sz="1050" b="0">
                          <a:solidFill>
                            <a:srgbClr val="16211C"/>
                          </a:solidFill>
                          <a:latin typeface="Calibri"/>
                        </a:rPr>
                        <a:t>Messages différés</a:t>
                      </a:r>
                    </a:p>
                  </a:txBody>
                  <a:tcPr marL="82296" marR="82296" marT="27432" marB="27432" anchor="ctr">
                    <a:solidFill>
                      <a:srgbClr val="FAF7F2"/>
                    </a:solidFill>
                  </a:tcPr>
                </a:tc>
                <a:tc>
                  <a:txBody>
                    <a:bodyPr/>
                    <a:lstStyle/>
                    <a:p>
                      <a:pPr rtl="0"/>
                      <a:r>
                        <a:rPr sz="1050" b="0">
                          <a:solidFill>
                            <a:srgbClr val="BD6B16"/>
                          </a:solidFill>
                          <a:latin typeface="Calibri"/>
                        </a:rPr>
                        <a:t>Oui, visite guidée avec la voix</a:t>
                      </a:r>
                    </a:p>
                  </a:txBody>
                  <a:tcPr marL="82296" marR="82296" marT="27432" marB="27432" anchor="ctr">
                    <a:solidFill>
                      <a:srgbClr val="FAF7F2"/>
                    </a:solidFill>
                  </a:tcPr>
                </a:tc>
                <a:extLst>
                  <a:ext uri="{0D108BD9-81ED-4DB2-BD59-A6C34878D82A}">
                    <a16:rowId xmlns:a16="http://schemas.microsoft.com/office/drawing/2014/main" val="10009"/>
                  </a:ext>
                </a:extLst>
              </a:tr>
              <a:tr h="298235">
                <a:tc>
                  <a:txBody>
                    <a:bodyPr/>
                    <a:lstStyle/>
                    <a:p>
                      <a:pPr rtl="0"/>
                      <a:r>
                        <a:rPr sz="1050" b="1">
                          <a:solidFill>
                            <a:srgbClr val="16211C"/>
                          </a:solidFill>
                          <a:latin typeface="Calibri"/>
                        </a:rPr>
                        <a:t>Hors horaires</a:t>
                      </a:r>
                    </a:p>
                  </a:txBody>
                  <a:tcPr marL="82296" marR="82296" marT="27432" marB="27432" anchor="ctr">
                    <a:solidFill>
                      <a:srgbClr val="FFFFFF"/>
                    </a:solidFill>
                  </a:tcPr>
                </a:tc>
                <a:tc>
                  <a:txBody>
                    <a:bodyPr/>
                    <a:lstStyle/>
                    <a:p>
                      <a:pPr rtl="0"/>
                      <a:r>
                        <a:rPr sz="1050" b="0">
                          <a:solidFill>
                            <a:srgbClr val="16211C"/>
                          </a:solidFill>
                          <a:latin typeface="Calibri"/>
                        </a:rPr>
                        <a:t>Non</a:t>
                      </a:r>
                    </a:p>
                  </a:txBody>
                  <a:tcPr marL="82296" marR="82296" marT="27432" marB="27432" anchor="ctr">
                    <a:solidFill>
                      <a:srgbClr val="FFFFFF"/>
                    </a:solidFill>
                  </a:tcPr>
                </a:tc>
                <a:tc>
                  <a:txBody>
                    <a:bodyPr/>
                    <a:lstStyle/>
                    <a:p>
                      <a:pPr rtl="0"/>
                      <a:r>
                        <a:rPr sz="1050" b="0">
                          <a:solidFill>
                            <a:srgbClr val="16211C"/>
                          </a:solidFill>
                          <a:latin typeface="Calibri"/>
                        </a:rPr>
                        <a:t>Non</a:t>
                      </a:r>
                    </a:p>
                  </a:txBody>
                  <a:tcPr marL="82296" marR="82296" marT="27432" marB="27432" anchor="ctr">
                    <a:solidFill>
                      <a:srgbClr val="FFFFFF"/>
                    </a:solidFill>
                  </a:tcPr>
                </a:tc>
                <a:tc>
                  <a:txBody>
                    <a:bodyPr/>
                    <a:lstStyle/>
                    <a:p>
                      <a:pPr rtl="0"/>
                      <a:r>
                        <a:rPr sz="1050" b="0">
                          <a:solidFill>
                            <a:srgbClr val="BD6B16"/>
                          </a:solidFill>
                          <a:latin typeface="Calibri"/>
                        </a:rPr>
                        <a:t>Oui, hôtesse vocale en 5 langues</a:t>
                      </a:r>
                    </a:p>
                  </a:txBody>
                  <a:tcPr marL="82296" marR="82296" marT="27432" marB="27432" anchor="ctr">
                    <a:solidFill>
                      <a:srgbClr val="FFFFFF"/>
                    </a:solidFill>
                  </a:tcPr>
                </a:tc>
                <a:extLst>
                  <a:ext uri="{0D108BD9-81ED-4DB2-BD59-A6C34878D82A}">
                    <a16:rowId xmlns:a16="http://schemas.microsoft.com/office/drawing/2014/main" val="10010"/>
                  </a:ext>
                </a:extLst>
              </a:tr>
              <a:tr h="298235">
                <a:tc>
                  <a:txBody>
                    <a:bodyPr/>
                    <a:lstStyle/>
                    <a:p>
                      <a:pPr rtl="0"/>
                      <a:r>
                        <a:rPr sz="1050" b="1">
                          <a:solidFill>
                            <a:srgbClr val="16211C"/>
                          </a:solidFill>
                          <a:latin typeface="Calibri"/>
                        </a:rPr>
                        <a:t>Trace du contact</a:t>
                      </a:r>
                    </a:p>
                  </a:txBody>
                  <a:tcPr marL="82296" marR="82296" marT="27432" marB="27432" anchor="ctr">
                    <a:solidFill>
                      <a:srgbClr val="FAF7F2"/>
                    </a:solidFill>
                  </a:tcPr>
                </a:tc>
                <a:tc>
                  <a:txBody>
                    <a:bodyPr/>
                    <a:lstStyle/>
                    <a:p>
                      <a:pPr rtl="0"/>
                      <a:r>
                        <a:rPr sz="1050" b="0">
                          <a:solidFill>
                            <a:srgbClr val="16211C"/>
                          </a:solidFill>
                          <a:latin typeface="Calibri"/>
                        </a:rPr>
                        <a:t>Formulaire simple</a:t>
                      </a:r>
                    </a:p>
                  </a:txBody>
                  <a:tcPr marL="82296" marR="82296" marT="27432" marB="27432" anchor="ctr">
                    <a:solidFill>
                      <a:srgbClr val="FAF7F2"/>
                    </a:solidFill>
                  </a:tcPr>
                </a:tc>
                <a:tc>
                  <a:txBody>
                    <a:bodyPr/>
                    <a:lstStyle/>
                    <a:p>
                      <a:pPr rtl="0"/>
                      <a:r>
                        <a:rPr sz="1050" b="0">
                          <a:solidFill>
                            <a:srgbClr val="16211C"/>
                          </a:solidFill>
                          <a:latin typeface="Calibri"/>
                        </a:rPr>
                        <a:t>Commentaires épars</a:t>
                      </a:r>
                    </a:p>
                  </a:txBody>
                  <a:tcPr marL="82296" marR="82296" marT="27432" marB="27432" anchor="ctr">
                    <a:solidFill>
                      <a:srgbClr val="FAF7F2"/>
                    </a:solidFill>
                  </a:tcPr>
                </a:tc>
                <a:tc>
                  <a:txBody>
                    <a:bodyPr/>
                    <a:lstStyle/>
                    <a:p>
                      <a:pPr rtl="0"/>
                      <a:r>
                        <a:rPr sz="1050" b="0">
                          <a:solidFill>
                            <a:srgbClr val="BD6B16"/>
                          </a:solidFill>
                          <a:latin typeface="Calibri"/>
                        </a:rPr>
                        <a:t>Fiche client, sélection, messages, suites</a:t>
                      </a:r>
                    </a:p>
                  </a:txBody>
                  <a:tcPr marL="82296" marR="82296" marT="27432" marB="27432" anchor="ctr">
                    <a:solidFill>
                      <a:srgbClr val="FAF7F2"/>
                    </a:solidFill>
                  </a:tcPr>
                </a:tc>
                <a:extLst>
                  <a:ext uri="{0D108BD9-81ED-4DB2-BD59-A6C34878D82A}">
                    <a16:rowId xmlns:a16="http://schemas.microsoft.com/office/drawing/2014/main" val="10011"/>
                  </a:ext>
                </a:extLst>
              </a:tr>
              <a:tr h="298236">
                <a:tc>
                  <a:txBody>
                    <a:bodyPr/>
                    <a:lstStyle/>
                    <a:p>
                      <a:pPr rtl="0"/>
                      <a:r>
                        <a:rPr sz="1050" b="1">
                          <a:solidFill>
                            <a:srgbClr val="16211C"/>
                          </a:solidFill>
                          <a:latin typeface="Calibri"/>
                        </a:rPr>
                        <a:t>Mise à jour</a:t>
                      </a:r>
                    </a:p>
                  </a:txBody>
                  <a:tcPr marL="82296" marR="82296" marT="27432" marB="27432" anchor="ctr">
                    <a:solidFill>
                      <a:srgbClr val="FFFFFF"/>
                    </a:solidFill>
                  </a:tcPr>
                </a:tc>
                <a:tc>
                  <a:txBody>
                    <a:bodyPr/>
                    <a:lstStyle/>
                    <a:p>
                      <a:pPr rtl="0"/>
                      <a:r>
                        <a:rPr sz="1050" b="0">
                          <a:solidFill>
                            <a:srgbClr val="16211C"/>
                          </a:solidFill>
                          <a:latin typeface="Calibri"/>
                        </a:rPr>
                        <a:t>Par prestataire</a:t>
                      </a:r>
                    </a:p>
                  </a:txBody>
                  <a:tcPr marL="82296" marR="82296" marT="27432" marB="27432" anchor="ctr">
                    <a:solidFill>
                      <a:srgbClr val="FFFFFF"/>
                    </a:solidFill>
                  </a:tcPr>
                </a:tc>
                <a:tc>
                  <a:txBody>
                    <a:bodyPr/>
                    <a:lstStyle/>
                    <a:p>
                      <a:pPr rtl="0"/>
                      <a:r>
                        <a:rPr sz="1050" b="0">
                          <a:solidFill>
                            <a:srgbClr val="16211C"/>
                          </a:solidFill>
                          <a:latin typeface="Calibri"/>
                        </a:rPr>
                        <a:t>Nouvelle publication</a:t>
                      </a:r>
                    </a:p>
                  </a:txBody>
                  <a:tcPr marL="82296" marR="82296" marT="27432" marB="27432" anchor="ctr">
                    <a:solidFill>
                      <a:srgbClr val="FFFFFF"/>
                    </a:solidFill>
                  </a:tcPr>
                </a:tc>
                <a:tc>
                  <a:txBody>
                    <a:bodyPr/>
                    <a:lstStyle/>
                    <a:p>
                      <a:pPr rtl="0"/>
                      <a:r>
                        <a:rPr sz="1050" b="0">
                          <a:solidFill>
                            <a:srgbClr val="BD6B16"/>
                          </a:solidFill>
                          <a:latin typeface="Calibri"/>
                        </a:rPr>
                        <a:t>Par l’équipe, en quelques minutes</a:t>
                      </a:r>
                    </a:p>
                  </a:txBody>
                  <a:tcPr marL="82296" marR="82296" marT="27432" marB="27432" anchor="ctr">
                    <a:solidFill>
                      <a:srgbClr val="FFFFFF"/>
                    </a:solidFill>
                  </a:tcPr>
                </a:tc>
                <a:extLst>
                  <a:ext uri="{0D108BD9-81ED-4DB2-BD59-A6C34878D82A}">
                    <a16:rowId xmlns:a16="http://schemas.microsoft.com/office/drawing/2014/main" val="10012"/>
                  </a:ext>
                </a:extLst>
              </a:tr>
            </a:tbl>
          </a:graphicData>
        </a:graphic>
      </p:graphicFrame>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21</a:t>
            </a:r>
          </a:p>
        </p:txBody>
      </p:sp>
      <p:pic>
        <p:nvPicPr>
          <p:cNvPr id="9" name="diapo-21-d5121b65b9">
            <a:hlinkClick r:id="" action="ppaction://media"/>
            <a:extLst>
              <a:ext uri="{FF2B5EF4-FFF2-40B4-BE49-F238E27FC236}">
                <a16:creationId xmlns:a16="http://schemas.microsoft.com/office/drawing/2014/main" id="{20348039-17D1-9EB5-CF6E-638FA9FFC74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0700"/>
    </mc:Choice>
    <mc:Fallback>
      <p:transition spd="slow" advTm="80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9512"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9539935"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CE QUE CELA APPORTE, ET CE QUE CELA DEMANDE</a:t>
            </a:r>
          </a:p>
        </p:txBody>
      </p:sp>
      <p:sp>
        <p:nvSpPr>
          <p:cNvPr id="4" name="TextBox 3"/>
          <p:cNvSpPr txBox="1"/>
          <p:nvPr/>
        </p:nvSpPr>
        <p:spPr>
          <a:xfrm>
            <a:off x="777240" y="1106424"/>
            <a:ext cx="9539935"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Les gains attendus</a:t>
            </a:r>
          </a:p>
        </p:txBody>
      </p:sp>
      <p:sp>
        <p:nvSpPr>
          <p:cNvPr id="5" name="Rectangle 4"/>
          <p:cNvSpPr/>
          <p:nvPr/>
        </p:nvSpPr>
        <p:spPr>
          <a:xfrm>
            <a:off x="777240"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75688"/>
            <a:ext cx="9539935" cy="3867912"/>
          </a:xfrm>
          <a:prstGeom prst="rect">
            <a:avLst/>
          </a:prstGeom>
          <a:noFill/>
        </p:spPr>
        <p:txBody>
          <a:bodyPr wrap="square" lIns="0" tIns="0" rIns="0" bIns="0">
            <a:spAutoFit/>
          </a:bodyPr>
          <a:lstStyle/>
          <a:p>
            <a:pPr marL="236220" indent="-236220" rtl="0">
              <a:lnSpc>
                <a:spcPct val="135000"/>
              </a:lnSpc>
              <a:buClr>
                <a:srgbClr val="BD6B16"/>
              </a:buClr>
              <a:buSzPct val="90000"/>
              <a:buFont typeface="Arial"/>
              <a:buChar char="▪"/>
            </a:pPr>
            <a:r>
              <a:rPr sz="1600" b="0" i="0">
                <a:solidFill>
                  <a:srgbClr val="16211C"/>
                </a:solidFill>
                <a:latin typeface="Calibri"/>
              </a:rPr>
              <a:t>Le client arrive informé : l’entretien porte sur sa décision, plus sur la description du projet.</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Moins de déplacements pour rien, dans les deux sens : le client sait ce qui reste, le conseiller sait ce que le client a regardé.</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Les familles éloignées et les Marocains résidant à l’étranger participent vraiment au choix.</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Chaque contact laisse une trace exploitable, y compris hors horaires.</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Une image d’entreprise à la hauteur des projets, et le même discours dans les quatre langues, quel que soit l’interlocuteur.</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22</a:t>
            </a:r>
          </a:p>
        </p:txBody>
      </p:sp>
      <p:pic>
        <p:nvPicPr>
          <p:cNvPr id="9" name="diapo-22-40e373d112">
            <a:hlinkClick r:id="" action="ppaction://media"/>
            <a:extLst>
              <a:ext uri="{FF2B5EF4-FFF2-40B4-BE49-F238E27FC236}">
                <a16:creationId xmlns:a16="http://schemas.microsoft.com/office/drawing/2014/main" id="{28783FCB-354C-B888-D5D3-3CE62087F39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200"/>
    </mc:Choice>
    <mc:Fallback>
      <p:transition spd="slow" advTm="35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96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9539935"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CE QUE CELA APPORTE, ET CE QUE CELA DEMANDE</a:t>
            </a:r>
          </a:p>
        </p:txBody>
      </p:sp>
      <p:sp>
        <p:nvSpPr>
          <p:cNvPr id="4" name="TextBox 3"/>
          <p:cNvSpPr txBox="1"/>
          <p:nvPr/>
        </p:nvSpPr>
        <p:spPr>
          <a:xfrm>
            <a:off x="777240" y="1106424"/>
            <a:ext cx="9539935"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Les conditions de réussite — disons-les clairement</a:t>
            </a:r>
          </a:p>
        </p:txBody>
      </p:sp>
      <p:sp>
        <p:nvSpPr>
          <p:cNvPr id="5" name="Rectangle 4"/>
          <p:cNvSpPr/>
          <p:nvPr/>
        </p:nvSpPr>
        <p:spPr>
          <a:xfrm>
            <a:off x="777240" y="21488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532888"/>
            <a:ext cx="9539935" cy="3410712"/>
          </a:xfrm>
          <a:prstGeom prst="rect">
            <a:avLst/>
          </a:prstGeom>
          <a:noFill/>
        </p:spPr>
        <p:txBody>
          <a:bodyPr wrap="square" lIns="0" tIns="0" rIns="0" bIns="0">
            <a:spAutoFit/>
          </a:bodyPr>
          <a:lstStyle/>
          <a:p>
            <a:pPr marL="236220" indent="-236220" rtl="0">
              <a:lnSpc>
                <a:spcPct val="135000"/>
              </a:lnSpc>
              <a:buClr>
                <a:srgbClr val="BD6B16"/>
              </a:buClr>
              <a:buSzPct val="90000"/>
              <a:buFont typeface="Arial"/>
              <a:buChar char="▪"/>
            </a:pPr>
            <a:r>
              <a:rPr sz="1600" b="0" i="0">
                <a:solidFill>
                  <a:srgbClr val="16211C"/>
                </a:solidFill>
                <a:latin typeface="Calibri"/>
              </a:rPr>
              <a:t>La grille des lots doit rester à jour. C’est la condition numéro un : un site qui annonce disponible un logement vendu abîme la confiance plus qu’une brochure périmée.</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Chaque nouveau projet demande ses photos 360° : une demi-journée de prises de vue par bureau de vente et par appartement témoin.</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Une personne doit être désignée pour valider les comptes des conseillers et surveiller les messages laissés hors horaires.</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Les bornes demandent un budget matériel et une installation par agence.</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La prise en main tient en une à deux heures par équipe : les écrans sont ceux que les conseillers connaissent déjà côté client.</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23</a:t>
            </a:r>
          </a:p>
        </p:txBody>
      </p:sp>
      <p:pic>
        <p:nvPicPr>
          <p:cNvPr id="9" name="diapo-23-2546420066">
            <a:hlinkClick r:id="" action="ppaction://media"/>
            <a:extLst>
              <a:ext uri="{FF2B5EF4-FFF2-40B4-BE49-F238E27FC236}">
                <a16:creationId xmlns:a16="http://schemas.microsoft.com/office/drawing/2014/main" id="{4EDFDFBB-C61C-0E6B-9195-13CCC9782E9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700"/>
    </mc:Choice>
    <mc:Fallback>
      <p:transition spd="slow" advTm="48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52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9539935"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OÙ EN EST LE PROJET, HONNÊTEMENT</a:t>
            </a:r>
          </a:p>
        </p:txBody>
      </p:sp>
      <p:sp>
        <p:nvSpPr>
          <p:cNvPr id="4" name="TextBox 3"/>
          <p:cNvSpPr txBox="1"/>
          <p:nvPr/>
        </p:nvSpPr>
        <p:spPr>
          <a:xfrm>
            <a:off x="777240" y="1106424"/>
            <a:ext cx="9539935"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En ligne et opérationnel aujourd’hui</a:t>
            </a:r>
          </a:p>
        </p:txBody>
      </p:sp>
      <p:sp>
        <p:nvSpPr>
          <p:cNvPr id="5" name="Rectangle 4"/>
          <p:cNvSpPr/>
          <p:nvPr/>
        </p:nvSpPr>
        <p:spPr>
          <a:xfrm>
            <a:off x="777240"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75688"/>
            <a:ext cx="9539935" cy="3867912"/>
          </a:xfrm>
          <a:prstGeom prst="rect">
            <a:avLst/>
          </a:prstGeom>
          <a:noFill/>
        </p:spPr>
        <p:txBody>
          <a:bodyPr wrap="square" lIns="0" tIns="0" rIns="0" bIns="0">
            <a:spAutoFit/>
          </a:bodyPr>
          <a:lstStyle/>
          <a:p>
            <a:pPr marL="236220" indent="-236220" rtl="0">
              <a:lnSpc>
                <a:spcPct val="135000"/>
              </a:lnSpc>
              <a:buClr>
                <a:srgbClr val="BD6B16"/>
              </a:buClr>
              <a:buSzPct val="90000"/>
              <a:buFont typeface="Arial"/>
              <a:buChar char="▪"/>
            </a:pPr>
            <a:r>
              <a:rPr sz="1400" b="0" i="0">
                <a:solidFill>
                  <a:srgbClr val="16211C"/>
                </a:solidFill>
                <a:latin typeface="Calibri"/>
              </a:rPr>
              <a:t>Le site public dans les quatre langues : 12 projets, fiches détaillées, carte globale, cartes de quartier, albums photos et vidéos.</a:t>
            </a:r>
          </a:p>
          <a:p>
            <a:pPr marL="236220" indent="-236220" rtl="0">
              <a:lnSpc>
                <a:spcPct val="135000"/>
              </a:lnSpc>
              <a:spcBef>
                <a:spcPts val="1300"/>
              </a:spcBef>
              <a:buClr>
                <a:srgbClr val="BD6B16"/>
              </a:buClr>
              <a:buSzPct val="90000"/>
              <a:buFont typeface="Arial"/>
              <a:buChar char="▪"/>
            </a:pPr>
            <a:r>
              <a:rPr sz="1400" b="0" i="0">
                <a:solidFill>
                  <a:srgbClr val="16211C"/>
                </a:solidFill>
                <a:latin typeface="Calibri"/>
              </a:rPr>
              <a:t>Les visites 360° : projet, appartement témoin et bureau de vente pour la Résidence Al Jawhara.</a:t>
            </a:r>
          </a:p>
          <a:p>
            <a:pPr marL="236220" indent="-236220" rtl="0">
              <a:lnSpc>
                <a:spcPct val="135000"/>
              </a:lnSpc>
              <a:spcBef>
                <a:spcPts val="1300"/>
              </a:spcBef>
              <a:buClr>
                <a:srgbClr val="BD6B16"/>
              </a:buClr>
              <a:buSzPct val="90000"/>
              <a:buFont typeface="Arial"/>
              <a:buChar char="▪"/>
            </a:pPr>
            <a:r>
              <a:rPr sz="1400" b="0" i="0">
                <a:solidFill>
                  <a:srgbClr val="16211C"/>
                </a:solidFill>
                <a:latin typeface="Calibri"/>
              </a:rPr>
              <a:t>La grille de commercialisation : 454 logements, filtres, plans de masse, statuts et prix.</a:t>
            </a:r>
          </a:p>
          <a:p>
            <a:pPr marL="236220" indent="-236220" rtl="0">
              <a:lnSpc>
                <a:spcPct val="135000"/>
              </a:lnSpc>
              <a:spcBef>
                <a:spcPts val="1300"/>
              </a:spcBef>
              <a:buClr>
                <a:srgbClr val="BD6B16"/>
              </a:buClr>
              <a:buSzPct val="90000"/>
              <a:buFont typeface="Arial"/>
              <a:buChar char="▪"/>
            </a:pPr>
            <a:r>
              <a:rPr sz="1400" b="0" i="0">
                <a:solidFill>
                  <a:srgbClr val="16211C"/>
                </a:solidFill>
                <a:latin typeface="Calibri"/>
              </a:rPr>
              <a:t>La fiche de renseignement client avec lecture de la carte nationale, enregistrée en base, pièces d’identité dans un coffre hors du site.</a:t>
            </a:r>
          </a:p>
          <a:p>
            <a:pPr marL="236220" indent="-236220" rtl="0">
              <a:lnSpc>
                <a:spcPct val="135000"/>
              </a:lnSpc>
              <a:spcBef>
                <a:spcPts val="1300"/>
              </a:spcBef>
              <a:buClr>
                <a:srgbClr val="BD6B16"/>
              </a:buClr>
              <a:buSzPct val="90000"/>
              <a:buFont typeface="Arial"/>
              <a:buChar char="▪"/>
            </a:pPr>
            <a:r>
              <a:rPr sz="1400" b="0" i="0">
                <a:solidFill>
                  <a:srgbClr val="16211C"/>
                </a:solidFill>
                <a:latin typeface="Calibri"/>
              </a:rPr>
              <a:t>La visite guidée en direct avec la voix, et l’hôtesse virtuelle vocale.</a:t>
            </a:r>
          </a:p>
          <a:p>
            <a:pPr marL="236220" indent="-236220" rtl="0">
              <a:lnSpc>
                <a:spcPct val="135000"/>
              </a:lnSpc>
              <a:spcBef>
                <a:spcPts val="1300"/>
              </a:spcBef>
              <a:buClr>
                <a:srgbClr val="BD6B16"/>
              </a:buClr>
              <a:buSzPct val="90000"/>
              <a:buFont typeface="Arial"/>
              <a:buChar char="▪"/>
            </a:pPr>
            <a:r>
              <a:rPr sz="1400" b="0" i="0">
                <a:solidFill>
                  <a:srgbClr val="16211C"/>
                </a:solidFill>
                <a:latin typeface="Calibri"/>
              </a:rPr>
              <a:t>L’espace commercial et l’administration complète.</a:t>
            </a:r>
          </a:p>
          <a:p>
            <a:pPr marL="236220" indent="-236220" rtl="0">
              <a:lnSpc>
                <a:spcPct val="135000"/>
              </a:lnSpc>
              <a:spcBef>
                <a:spcPts val="1300"/>
              </a:spcBef>
              <a:buClr>
                <a:srgbClr val="BD6B16"/>
              </a:buClr>
              <a:buSzPct val="90000"/>
              <a:buFont typeface="Arial"/>
              <a:buChar char="▪"/>
            </a:pPr>
            <a:r>
              <a:rPr sz="1400" b="0" i="0">
                <a:solidFill>
                  <a:srgbClr val="16211C"/>
                </a:solidFill>
                <a:latin typeface="Calibri"/>
              </a:rPr>
              <a:t>L’hébergement sur serveur privé, avec mise en ligne en une commande et sauvegarde avant chaque modification de contenu.</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24</a:t>
            </a:r>
          </a:p>
        </p:txBody>
      </p:sp>
      <p:pic>
        <p:nvPicPr>
          <p:cNvPr id="9" name="diapo-24-674071e9bb">
            <a:hlinkClick r:id="" action="ppaction://media"/>
            <a:extLst>
              <a:ext uri="{FF2B5EF4-FFF2-40B4-BE49-F238E27FC236}">
                <a16:creationId xmlns:a16="http://schemas.microsoft.com/office/drawing/2014/main" id="{6F5E064D-7F4A-E048-9C0C-81F24F3B6BF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100"/>
    </mc:Choice>
    <mc:Fallback>
      <p:transition spd="slow" advTm="50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912"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9539935"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OÙ EN EST LE PROJET, HONNÊTEMENT</a:t>
            </a:r>
          </a:p>
        </p:txBody>
      </p:sp>
      <p:sp>
        <p:nvSpPr>
          <p:cNvPr id="4" name="TextBox 3"/>
          <p:cNvSpPr txBox="1"/>
          <p:nvPr/>
        </p:nvSpPr>
        <p:spPr>
          <a:xfrm>
            <a:off x="777240" y="1106424"/>
            <a:ext cx="9539935"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Terminé ces derniers jours, prêt à être mis en ligne</a:t>
            </a:r>
          </a:p>
        </p:txBody>
      </p:sp>
      <p:sp>
        <p:nvSpPr>
          <p:cNvPr id="5" name="Rectangle 4"/>
          <p:cNvSpPr/>
          <p:nvPr/>
        </p:nvSpPr>
        <p:spPr>
          <a:xfrm>
            <a:off x="777240" y="21488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532888"/>
            <a:ext cx="9539935" cy="3410712"/>
          </a:xfrm>
          <a:prstGeom prst="rect">
            <a:avLst/>
          </a:prstGeom>
          <a:noFill/>
        </p:spPr>
        <p:txBody>
          <a:bodyPr wrap="square" lIns="0" tIns="0" rIns="0" bIns="0">
            <a:spAutoFit/>
          </a:bodyPr>
          <a:lstStyle/>
          <a:p>
            <a:pPr marL="236220" indent="-236220" rtl="0">
              <a:lnSpc>
                <a:spcPct val="135000"/>
              </a:lnSpc>
              <a:buClr>
                <a:srgbClr val="BD6B16"/>
              </a:buClr>
              <a:buSzPct val="90000"/>
              <a:buFont typeface="Arial"/>
              <a:buChar char="▪"/>
            </a:pPr>
            <a:r>
              <a:rPr sz="1600" b="0" i="0">
                <a:solidFill>
                  <a:srgbClr val="16211C"/>
                </a:solidFill>
                <a:latin typeface="Calibri"/>
              </a:rPr>
              <a:t>La synchronisation des tracés et des mesures pendant une visite guidée : ce que le conseiller dessine sur la carte apparaît chez le client.</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L’espace commercial et toute l’administration traduits dans les quatre langues, arabe compris, sens de lecture inversé.</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25</a:t>
            </a:r>
          </a:p>
        </p:txBody>
      </p:sp>
      <p:pic>
        <p:nvPicPr>
          <p:cNvPr id="9" name="diapo-25-5ea02a31d6">
            <a:hlinkClick r:id="" action="ppaction://media"/>
            <a:extLst>
              <a:ext uri="{FF2B5EF4-FFF2-40B4-BE49-F238E27FC236}">
                <a16:creationId xmlns:a16="http://schemas.microsoft.com/office/drawing/2014/main" id="{DE26A65C-B06B-7BF9-199D-E643DDA2F52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100"/>
    </mc:Choice>
    <mc:Fallback>
      <p:transition spd="slow" advTm="22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0904"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9539935" cy="292608"/>
          </a:xfrm>
          <a:prstGeom prst="rect">
            <a:avLst/>
          </a:prstGeom>
          <a:noFill/>
        </p:spPr>
        <p:txBody>
          <a:bodyPr wrap="square" lIns="0" tIns="0" rIns="0" bIns="0">
            <a:spAutoFit/>
          </a:bodyPr>
          <a:lstStyle/>
          <a:p>
            <a:pPr rtl="0">
              <a:lnSpc>
                <a:spcPct val="115000"/>
              </a:lnSpc>
            </a:pPr>
            <a:r>
              <a:rPr sz="1100" b="1" i="0" spc="180">
                <a:solidFill>
                  <a:srgbClr val="BD6B16"/>
                </a:solidFill>
                <a:latin typeface="Calibri"/>
              </a:rPr>
              <a:t>OÙ EN EST LE PROJET, HONNÊTEMENT</a:t>
            </a:r>
          </a:p>
        </p:txBody>
      </p:sp>
      <p:sp>
        <p:nvSpPr>
          <p:cNvPr id="4" name="TextBox 3"/>
          <p:cNvSpPr txBox="1"/>
          <p:nvPr/>
        </p:nvSpPr>
        <p:spPr>
          <a:xfrm>
            <a:off x="777240" y="1106424"/>
            <a:ext cx="9539935"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Ce qui reste à décider ou à produire</a:t>
            </a:r>
          </a:p>
        </p:txBody>
      </p:sp>
      <p:sp>
        <p:nvSpPr>
          <p:cNvPr id="5" name="Rectangle 4"/>
          <p:cNvSpPr/>
          <p:nvPr/>
        </p:nvSpPr>
        <p:spPr>
          <a:xfrm>
            <a:off x="777240" y="1691640"/>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75688"/>
            <a:ext cx="9539935" cy="3867912"/>
          </a:xfrm>
          <a:prstGeom prst="rect">
            <a:avLst/>
          </a:prstGeom>
          <a:noFill/>
        </p:spPr>
        <p:txBody>
          <a:bodyPr wrap="square" lIns="0" tIns="0" rIns="0" bIns="0">
            <a:spAutoFit/>
          </a:bodyPr>
          <a:lstStyle/>
          <a:p>
            <a:pPr marL="236220" indent="-236220" rtl="0">
              <a:lnSpc>
                <a:spcPct val="135000"/>
              </a:lnSpc>
              <a:buClr>
                <a:srgbClr val="BD6B16"/>
              </a:buClr>
              <a:buSzPct val="90000"/>
              <a:buFont typeface="Arial"/>
              <a:buChar char="▪"/>
            </a:pPr>
            <a:r>
              <a:rPr sz="1600" b="0" i="0">
                <a:solidFill>
                  <a:srgbClr val="16211C"/>
                </a:solidFill>
                <a:latin typeface="Calibri"/>
              </a:rPr>
              <a:t>Les bornes tactiles : choix du matériel, agences pilotes.</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Les visites 360° des onze autres projets, et les vidéos qui manquent.</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Le rythme de mise à jour de la grille des lots, et la personne qui en répond.</a:t>
            </a:r>
          </a:p>
        </p:txBody>
      </p:sp>
      <p:sp>
        <p:nvSpPr>
          <p:cNvPr id="7" name="Rectangle 6"/>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26</a:t>
            </a:r>
          </a:p>
        </p:txBody>
      </p:sp>
      <p:pic>
        <p:nvPicPr>
          <p:cNvPr id="9" name="diapo-26-22a4ec7ab9">
            <a:hlinkClick r:id="" action="ppaction://media"/>
            <a:extLst>
              <a:ext uri="{FF2B5EF4-FFF2-40B4-BE49-F238E27FC236}">
                <a16:creationId xmlns:a16="http://schemas.microsoft.com/office/drawing/2014/main" id="{ED27B90C-4231-ADB0-E5AB-C29DDB2E581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1300"/>
    </mc:Choice>
    <mc:Fallback>
      <p:transition spd="slow" advTm="21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0064"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85800"/>
            <a:ext cx="9539935" cy="914400"/>
          </a:xfrm>
          <a:prstGeom prst="rect">
            <a:avLst/>
          </a:prstGeom>
          <a:noFill/>
        </p:spPr>
        <p:txBody>
          <a:bodyPr wrap="square" lIns="0" tIns="0" rIns="0" bIns="0">
            <a:spAutoFit/>
          </a:bodyPr>
          <a:lstStyle/>
          <a:p>
            <a:pPr rtl="0">
              <a:lnSpc>
                <a:spcPct val="110000"/>
              </a:lnSpc>
            </a:pPr>
            <a:r>
              <a:rPr sz="2700" b="0" i="0">
                <a:solidFill>
                  <a:srgbClr val="16211C"/>
                </a:solidFill>
                <a:latin typeface="Georgia"/>
              </a:rPr>
              <a:t>Trois prochaines étapes</a:t>
            </a:r>
          </a:p>
        </p:txBody>
      </p:sp>
      <p:sp>
        <p:nvSpPr>
          <p:cNvPr id="4" name="Rectangle 3"/>
          <p:cNvSpPr/>
          <p:nvPr/>
        </p:nvSpPr>
        <p:spPr>
          <a:xfrm>
            <a:off x="777240" y="1271016"/>
            <a:ext cx="100584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655064"/>
            <a:ext cx="9539935" cy="4288536"/>
          </a:xfrm>
          <a:prstGeom prst="rect">
            <a:avLst/>
          </a:prstGeom>
          <a:noFill/>
        </p:spPr>
        <p:txBody>
          <a:bodyPr wrap="square" lIns="0" tIns="0" rIns="0" bIns="0">
            <a:spAutoFit/>
          </a:bodyPr>
          <a:lstStyle/>
          <a:p>
            <a:pPr marL="236220" indent="-236220" rtl="0">
              <a:lnSpc>
                <a:spcPct val="135000"/>
              </a:lnSpc>
              <a:buClr>
                <a:srgbClr val="BD6B16"/>
              </a:buClr>
              <a:buSzPct val="90000"/>
              <a:buFont typeface="Arial"/>
              <a:buChar char="▪"/>
            </a:pPr>
            <a:r>
              <a:rPr sz="1600" b="0" i="0">
                <a:solidFill>
                  <a:srgbClr val="16211C"/>
                </a:solidFill>
                <a:latin typeface="Calibri"/>
              </a:rPr>
              <a:t>Une démonstration d’une heure en agence, sur un cas réel : un client qui cherche un F3 à Dcheira, du premier clic à la fiche remplie.</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Une agence pilote équipée d’une borne, et un deuxième projet complété en 360° pour vérifier le coût réel d’un projet.</a:t>
            </a:r>
          </a:p>
          <a:p>
            <a:pPr marL="236220" indent="-236220" rtl="0">
              <a:lnSpc>
                <a:spcPct val="135000"/>
              </a:lnSpc>
              <a:spcBef>
                <a:spcPts val="1300"/>
              </a:spcBef>
              <a:buClr>
                <a:srgbClr val="BD6B16"/>
              </a:buClr>
              <a:buSzPct val="90000"/>
              <a:buFont typeface="Arial"/>
              <a:buChar char="▪"/>
            </a:pPr>
            <a:r>
              <a:rPr sz="1600" b="0" i="0">
                <a:solidFill>
                  <a:srgbClr val="16211C"/>
                </a:solidFill>
                <a:latin typeface="Calibri"/>
              </a:rPr>
              <a:t>Une règle de mise à jour de la grille des lots — chaque semaine, par une personne nommée — et la mise en ligne des traductions du back-office.</a:t>
            </a:r>
          </a:p>
        </p:txBody>
      </p:sp>
      <p:sp>
        <p:nvSpPr>
          <p:cNvPr id="6" name="Rectangle 5"/>
          <p:cNvSpPr/>
          <p:nvPr/>
        </p:nvSpPr>
        <p:spPr>
          <a:xfrm>
            <a:off x="777240" y="6291072"/>
            <a:ext cx="10637215" cy="9525"/>
          </a:xfrm>
          <a:prstGeom prst="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6400800"/>
            <a:ext cx="10637215" cy="274320"/>
          </a:xfrm>
          <a:prstGeom prst="rect">
            <a:avLst/>
          </a:prstGeom>
          <a:noFill/>
        </p:spPr>
        <p:txBody>
          <a:bodyPr wrap="square" lIns="0" tIns="0" rIns="0" bIns="0">
            <a:spAutoFit/>
          </a:bodyPr>
          <a:lstStyle/>
          <a:p>
            <a:pPr algn="r"/>
            <a:r>
              <a:rPr sz="900">
                <a:solidFill>
                  <a:srgbClr val="6D766F"/>
                </a:solidFill>
                <a:latin typeface="Calibri"/>
              </a:rPr>
              <a:t>narjiss.company   ·   27</a:t>
            </a:r>
          </a:p>
        </p:txBody>
      </p:sp>
      <p:pic>
        <p:nvPicPr>
          <p:cNvPr id="8" name="diapo-27-6d24d091f5">
            <a:hlinkClick r:id="" action="ppaction://media"/>
            <a:extLst>
              <a:ext uri="{FF2B5EF4-FFF2-40B4-BE49-F238E27FC236}">
                <a16:creationId xmlns:a16="http://schemas.microsoft.com/office/drawing/2014/main" id="{A728AB44-CB2D-6DB2-A3E9-B6052E7669A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500"/>
    </mc:Choice>
    <mc:Fallback>
      <p:transition spd="slow" advTm="30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930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21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2286000"/>
            <a:ext cx="10637215" cy="914400"/>
          </a:xfrm>
          <a:prstGeom prst="rect">
            <a:avLst/>
          </a:prstGeom>
          <a:noFill/>
        </p:spPr>
        <p:txBody>
          <a:bodyPr wrap="square" lIns="0" tIns="0" rIns="0" bIns="0">
            <a:spAutoFit/>
          </a:bodyPr>
          <a:lstStyle/>
          <a:p>
            <a:pPr algn="ctr"/>
            <a:r>
              <a:rPr sz="4400">
                <a:solidFill>
                  <a:srgbClr val="FFFFFF"/>
                </a:solidFill>
                <a:latin typeface="Georgia"/>
              </a:rPr>
              <a:t>narjiss.company</a:t>
            </a:r>
          </a:p>
        </p:txBody>
      </p:sp>
      <p:sp>
        <p:nvSpPr>
          <p:cNvPr id="4" name="Rectangle 3"/>
          <p:cNvSpPr/>
          <p:nvPr/>
        </p:nvSpPr>
        <p:spPr>
          <a:xfrm>
            <a:off x="5455767" y="3474720"/>
            <a:ext cx="1280160" cy="31750"/>
          </a:xfrm>
          <a:prstGeom prst="rect">
            <a:avLst/>
          </a:prstGeom>
          <a:solidFill>
            <a:srgbClr val="BD6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194560" y="3931920"/>
            <a:ext cx="7802575" cy="1645920"/>
          </a:xfrm>
          <a:prstGeom prst="rect">
            <a:avLst/>
          </a:prstGeom>
          <a:noFill/>
        </p:spPr>
        <p:txBody>
          <a:bodyPr wrap="square" lIns="0" tIns="0" rIns="0" bIns="0">
            <a:spAutoFit/>
          </a:bodyPr>
          <a:lstStyle/>
          <a:p>
            <a:pPr algn="ctr" rtl="0">
              <a:lnSpc>
                <a:spcPct val="130000"/>
              </a:lnSpc>
            </a:pPr>
            <a:r>
              <a:rPr sz="1400">
                <a:solidFill>
                  <a:srgbClr val="C9CEC9"/>
                </a:solidFill>
                <a:latin typeface="Calibri"/>
              </a:rPr>
              <a:t>Le site est visible dès maintenant : narjiss.company. Le menu « Démo » déroule la présentation commerciale en quatre actes, telle qu’un conseiller peut la conduire devant un client.</a:t>
            </a:r>
          </a:p>
          <a:p>
            <a:pPr algn="ctr" rtl="0">
              <a:lnSpc>
                <a:spcPct val="130000"/>
              </a:lnSpc>
              <a:spcBef>
                <a:spcPts val="1000"/>
              </a:spcBef>
            </a:pPr>
            <a:r>
              <a:rPr sz="1400">
                <a:solidFill>
                  <a:srgbClr val="C9CEC9"/>
                </a:solidFill>
                <a:latin typeface="Calibri"/>
              </a:rPr>
              <a:t>Un document illustré complémentaire, « Ce que le site sait faire », détaille écran par écran l’ensemble des fonctions.</a:t>
            </a:r>
          </a:p>
        </p:txBody>
      </p:sp>
      <p:pic>
        <p:nvPicPr>
          <p:cNvPr id="6" name="diapo-28-281cfb0bed">
            <a:hlinkClick r:id="" action="ppaction://media"/>
            <a:extLst>
              <a:ext uri="{FF2B5EF4-FFF2-40B4-BE49-F238E27FC236}">
                <a16:creationId xmlns:a16="http://schemas.microsoft.com/office/drawing/2014/main" id="{18D55618-16A8-BBD6-3E30-5AE7D9EFF74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0" y="-762000"/>
            <a:ext cx="274320"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100"/>
    </mc:Choice>
    <mc:Fallback>
      <p:transition spd="slow" advTm="22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085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5499</Words>
  <Application>Microsoft Office PowerPoint</Application>
  <PresentationFormat>Grand écran</PresentationFormat>
  <Paragraphs>237</Paragraphs>
  <Slides>28</Slides>
  <Notes>28</Notes>
  <HiddenSlides>0</HiddenSlides>
  <MMClips>28</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28</vt:i4>
      </vt:variant>
    </vt:vector>
  </HeadingPairs>
  <TitlesOfParts>
    <vt:vector size="32" baseType="lpstr">
      <vt:lpstr>Arial</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Mohamed Oulmouden</cp:lastModifiedBy>
  <cp:revision>2</cp:revision>
  <dcterms:created xsi:type="dcterms:W3CDTF">2013-01-27T09:14:16Z</dcterms:created>
  <dcterms:modified xsi:type="dcterms:W3CDTF">2026-08-24T17:56:13Z</dcterms:modified>
  <cp:category/>
</cp:coreProperties>
</file>