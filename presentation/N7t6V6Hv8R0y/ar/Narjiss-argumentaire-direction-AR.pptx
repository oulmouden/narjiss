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58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من موقع للعرض إلى أداة بيع حقيقية. ملف تقديمي إلى إدارة نرجس للعقار. جميع صور الشاشة في هذا الملف مأخوذة من الموقع كما يشتغل اليوم. هكذا يصير مكتب البيع في نرجس: الزبون والمستشار ينظران إلى الشاشة نفسها، معًا.</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الخلاصة في صفحة واحدة. نرجس دوت كومباني ليس موقعًا جديدًا للعرض، بل هو الأداة التي تبيع بها نرجس: يرى فيه الزبون الشقق المتاحة فعلًا، ويتحقّق بنفسه من محيط المشروع، ويقوم بجولة 360 درجة، ويتحدّث مع مستشار مباشرة — وإذا لم يكن أحد متاحًا، تردّ عليه مضيفة افتراضية بصوتها، بلغته. أمّا الفريق، فيحدّث كل شيء من لوحة إدارة، دون مبرمج، وباللغات الأربع للموقع. الموقع متاح على الإنترنت ويشتغل اليوم. يشرح هذا الملف ما الذي يغيّره في البيع، وما الذي يقدّمه للزبون، وما الذي يتطلّبه من الشركة، ولماذا تُعدّ الشاشة اللمسية في كل وكالة امتدادًا طبيعيًا له.</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ستّة أمور لا يستطيعها الموقع الحالي ولا منشورات فيسبوك. إظهار الشقق المتاحة والمحجوزة مؤقّتًا والمحجوزة والمباعة، لحظة بلحظة — 454 وحدة اليوم في الجدول. إثبات ما يوجد حول المشروع: في إقامة الجوهرة، 77 مرفقًا أُحصيت واحدًا واحدًا، منها 21 مدرسة و15 صيدلية، مع المسافة إلى كل واحد منها. تمكين الزبون من زيارة المشروع وشقة نموذجية ومكتب البيع بتقنية 360 درجة، من هاتفه، ومن أي بلد. تمكين العائلة كلّها من المقارنة والقرار معًا، كلٌّ بلغته، دون تنقّل. مرافقة الزبون عن بُعد ومباشرة: المستشار يقود شاشة الزبون ويشرح بصوته. الاحتفاظ بأثر قابل للاستثمار لكل اتصال: بطاقة الزبون، الشقق المختارة، الرسائل، والإجراءات المتّخذة.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الموقع الحالي: نرجس إيموبيلير دوت كوم. هو واجهة أنيقة: يعرّف بالشركة وقيمها ومشاريعها، ويؤدّي جيّدًا ما صُمّم من أجله، ويظلّ مفيدًا لصورة العلامة. لكنه يتوقّف حيث يبدأ البيع. لا يقول ما تبقّى متاحًا، ولا يعرض شقة بعينها، ولا يُثبت المحيط، ولا يسمح بالزيارة، ولا يحتفظ بأي أثر عن الزائر. وكل تحديث يمرّ عبر مزوّد خدمة. نرجس إيموبيلير دوت كوم — واجهة: نتعرّف فيها على الشركة، لكن لا نختار فيها شقة.</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منشورات فيسبوك. تجلب الجمهور، ويجب الإبقاء عليها. لكن حدودها معروفة لدى كل من يبيع: الفيديو ينزل في الحائط ويختفي، وعبارة كل شيء قريب لا يمكن التحقّق منها، والتعليق ليس ملفًّا للزبون، والمنشور الواحد لا يخاطب سوى لغة واحدة. والأهم أن منشورًا على فيسبوك لا يمكنه أن يخبر زبونًا بما تبقّى متاحًا هذا الصباح. ليست المسألة اختيارًا بين الاثنين: فيسبوك يجلب الزائر، ونرجس دوت كومباني يحوّل الزيارة إلى قرار، ويحتفظ بالأثر.</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ما يعيشه الزبون، في خمس مراحل: 1. يكتشف, 2. يتحقّق من الحيّ — وهذه هي النقطة الحاسمة, 3. يزور, 4. يختار شقّته, 5. يقرّر مع عائلته، ولو عن بُعد.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يكتشف. صفحة استقبال، اثنا عشر مشروعًا، وخريطة للمغرب. يختار الزائر لغته من أعلى الصفحة — الفرنسية أو الإنجليزية أو العربية أو الإسبانية — فيتبعه الموقع كلّه، بما في ذلك العربية من اليمين إلى اليسار. صفحة الاستقبال: المشاريع، الخريطة العامة، العرض التوضيحي، واللغات الأربع.</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يتحقّق من الحيّ — وهذه هي النقطة الحاسمة. سؤال المشتري الأول ليس الثمن، بل: ما الذي يوجد حول المشروع؟. الفيديو الذي يقول كل شيء قريب يطلب منك أن تثق. أمّا خريطة تذكر 21 مدرسة و15 صيدلية و7 خطوط نقل و7 مساجد، مع مسافة كل واحد منها عن المشروع، فلا تطلب منك شيئًا. يصفّي الزبون حسب الفئة، ويرتّب حسب المسافة، ويفتح المسار، ويرسله إلى واتساب. ليس مضطرًّا لأن يصدّقنا: هو يتحقّق بنفسه. إقامة الجوهرة: 77 نقطة اهتمام أُحصيت واحدة واحدة، قابلة للتصفية وقياس المسافة. وأكثر من 900 مرفق مرسوم على خرائط مجموع المشاريع.</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يزور. جولة 360 درجة في المشروع، شقة نموذجية، مخطّط المهندس والمخطّط التجاري قابلان للتراكب، فيديوهات، وألبوم صور. يدير الزبون رأسه بإصبعه على هاتفه، أو على الشاشة الكبيرة في الوكالة. بطاقة المشروع: الجولة 360 درجة تملأ الشاشة، وبقيّة الوسائط على بُعد نقرة واحدة.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يختار شقّته. هذا هو قلب الأداة، وهو ما لا يفعله أي موقع عرض. جدول التسويق — الذي يعيش اليوم في ملف Excel — يصير مخطّطًا يتصرّف فيه الزبون بنفسه: عمارة عمارة، وطابقًا طابقًا، مع حالة كل شقة ومساحتها واتجاهها وثمنها. يصفّي حسب معاييره، ويحتفظ بثلاث شقق على الأكثر، ويقارن بينها، ثم يرسل اختياره. فيعاود المستشار الاتصال به وهذه الشقق أمام عينيه. مخطّط الموقع، عمارة عمارة، مع عدد الشقق التي ما تزال متاحة. أربع حالات، بالألوان نفسها المعتمدة في مكتب البيع.</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يقرّر مع عائلته، ولو عن بُعد. رابط واحد يكفي لمشاركة اختيار. الابن في الدار البيضاء، والأب في أكادير، والعمّ في بروكسل، يرون المخطّط نفسه والجولة نفسها والخريطة نفسها — كلٌّ بلغته. وهذه بالضبط حالة مغربي مقيم بالخارج يشتري لعائلته: كان إلى اليوم يشتري بالكلام والصور.</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الجولة المصحوبة المباشرة. يفتح المستشار جولة، ويعطي رمزًا من ستّة أرقام، فيُدخله الزبون من بيته. ومنذ تلك اللحظة تتبع شاشةُ الزبون شاشةَ المستشار: تغيير الصفحة، التنقّل على الخريطة، الدوران داخل جولة 360 درجة، والرسم بالإصبع على المخطّط. والصوت يمرّ في القناة نفسها. عمليًّا: يحيط المستشار بوحدة على الخريطة، ويقيس المسافة إلى المدرسة، فيرى الزبون الخطّ يُرسم على شاشته هو، مباشرة.</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المضيفة الافتراضية، حين لا يكون أحد. في المساء، وفي عطلة نهاية الأسبوع، وحين يتّصل زبون من مونتريال على الساعة الثالثة صباحًا، تتكفّل مضيفة افتراضية بالردّ. تتحدّث بصوتها — بالدارجة، وبالعربية الفصحى، وبالفرنسية، والإنجليزية، والإسبانية — وتجيب عن الأسئلة المعتادة، وتوجّه إلى المشروع المناسب، وتأخذ الرسالة وبيانات الاتصال. وفي صباح اليوم الموالي يجد الوكيل التجاري الرسالة في مساحته، مع تفريغها ورقم الهاتف: فيعاود الاتصال وهو يعرف الطلب مسبقًا. ولا تضيع أي مكالمة. مكتب البيع في جولة افتراضية، مع زرّ التحدّث إلى المضيفة. يدفع الزبون الباب قبل أن يتنقّل.</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مساحة الوكيل التجاري. لكل مستشار مساحته: يعلن فيها حضوره، ويستقبل طلبات الزوّار الذين وجّهتهم المضيفة، ويجد فيها الرسائل الصوتية والمكتوبة التي تُركت في غيابه، ويمكنه أن يركّب بنفسه جولة 360 درجة انطلاقًا من صوره، دون تثبيت أي برنامج. مساحة الوكيل بالعربية: منذ غشت 2026، صارت واجهة العمل مترجمة إلى اللغات الأربع، بما في ذلك اتجاه الكتابة.</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لوحة الإدارة. كل ما يراه الزبون يُدار من لوحة إدارة، دون المساس بالبرمجة: المشاريع وأوصافها باللغات الأربع، والصور، والفيديوهات، وجولات 360 درجة، ونقاط الاهتمام، والمناطق القابلة للنقر في المخطّطات، وبطاقات الزبناء، وحسابات المستشارين. ويُستورد جدول الوحدات من ملف Excel الخاص بالمنعش؛ ويتمّ تغيير الحالة بنقرة واحدة تظهر فورًا على الموقع. تحديث التوفّر يستغرق ثوانٍ، لا مكالمة مع مزوّد خدمة. جدول التسويق داخل لوحة الإدارة، بالعربية: 130 وحدة، والحالات والأثمنة قابلة للتعديل بنقرة.</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بطاقة الزبون. المطبوع الورقي يصير شاشة. يصوّر المستشار ظهر البطاقة الوطنية، فتُملأ الاسم والنسب والرقم وتاريخ الصلاحية تلقائيًّا. وتصل البطاقة مرتبطة بالشقق التي اختارها الزبون، أمّا وثائق الهوية فتُحفَظ خارج الموقع، في خزنة خاصة على الخادم. بطاقة المعلومات، بالفرنسية والعربية، مع القراءة التلقائية للبطاقة الوطنية.</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الشاشات اللمسية في الوكالات. كل ما سبق يشتغل اليوم على الهاتف وعلى الحاسوب. أمّا الشاشة اللمسية فتضيف ما لا تمنحه شاشة شخصية: شخصان واقفان أمام المخطّط نفسه، بحجمه الحقيقي، داخل الوكالة.</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ما الذي تضيفه الشاشة. الزبون يتصرّف في المخطّط بنفسه، والمستشار يشرح إلى جانبه، عوض أن يدير له شاشة حاسوب. خريطة الحيّ تُستعرض بالإصبع، والمدرسة يُشار إليها، والمسافة تظهر. الجولة 360 درجة تملأ الشاشة كلّها: ننظر إلى الشقة، لا إلى كتيّب. تُختار الشقة في المكان، بحالتها الحقيقية، وتُملأ بطاقة الزبون في الأثر بقراءة البطاقة الوطنية. الانتظار في الاستقبال يصير وقتًا مفيدًا: يستكشف الزائر بنفسه ريثما ينهي المستشار موعدًا آخر.</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ما الذي تعوّضه. الكتيّبات المطبوعة التي تتقادم، والمخطّطات الورقية المعلَّمة بالقلم، ولوحة التوفّر التي تُصحَّح باليد، والعبارة التي سمعها كل مشترٍ: سأعاود الاتصال بك بلائحة المتوفّر. شاشة في استقبال كل وكالة، وطاولة لمسية في مكتب البيع الرئيسي: الموقع نفسه، بحجم أكبر.</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ما ينبغي توفيره. شاشة لمسية من 43 إلى 55 بوصة بحاسوب مدمج، أو طاولة لمسية لمكتب البيع الرئيسي. متصفّح مفتوح في وضع الكشك على نرجس دوت كومباني: دون أي تثبيت، ودون برنامج خاص، ودون صيانة برمجية. اتصال بالإنترنت ونقطة كهربائية. والموقع مصمَّم أصلًا للّمس: أهداف واسعة، ولا إجراء يعتمد على مرور المؤشّر، وتباين مقروء من مسافة مترين. أمّا ثمن العتاد فيُطلب في عروض أثمنة من موردين محلّيين؛ ولن نذكر هنا أي رقم لم نتحقّق منه.</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مقارنة صادقة. ثلاث قنوات، وثلاثة أدوار. لا يقول الجدول إنّه ينبغي التخلّي عن الأوّلَين، بل يبيّن أين تتوقّف كلّ واحدة منها. التعريف بالشركة: نعم، نعم، نعم. جلب الجمهور: قليلًا، نعم، وهذه قوّته، نعم، عبر محرّكات البحث. التوفّر لحظة بلحظة: لا، لا، نعم — 454 وحدة متابَعة. الأثمنة والمساحات لكل وحدة: لا، لا، نعم، أو الثمن عند الطلب حسب الاختيار. إثبات محيط المشروع: لا، يُقال دون إثبات، نعم — 900 مرفق على الخريطة. جولة 360 درجة: لا، فيديو في اتجاه واحد، نعم، والزائر يوجّه نظره. اختيار شقة بعينها: لا، لا، نعم، على مخطّط الموقع. أربع لغات: جزئيًّا، لغة واحدة لكل منشور، نعم، الموقع كلّه ولوحة الإدارة. مستشار عن بُعد: لا، رسائل مؤجّلة، نعم، جولة مصحوبة بالصوت. خارج أوقات العمل: لا، لا، نعم، مضيفة صوتية بخمس لغات. أثر الاتصال: نموذج بسيط، تعليقات متفرّقة، بطاقة زبون، اختيار، رسائل، ومتابعة. التحديث: عبر مزوّد خدمة، منشور جديد، من طرف الفريق، في دقائق.</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المكاسب المنتظرة. يصل الزبون وهو مطّلع: فيتركّز اللقاء على قراره، لا على وصف المشروع. تنقّلات أقلّ بلا جدوى، في الاتجاهين: الزبون يعرف ما تبقّى، والمستشار يعرف ما نظر إليه الزبون. العائلات البعيدة والمغاربة المقيمون بالخارج يشاركون فعلًا في الاختيار. كل اتصال يترك أثرًا قابلًا للاستثمار، حتى خارج أوقات العمل. صورة مؤسّسة في مستوى مشاريعها، وخطاب واحد باللغات الأربع، أيًّا كان المحاور.</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شروط النجاح — نقولها بوضوح. يجب أن يبقى جدول الوحدات محيَّنًا. هذا هو الشرط الأول: موقع يعلن أنّ شقة مباعة ما تزال متاحة يضرّ بالثقة أكثر من كتيّب متقادم. كل مشروع جديد يتطلّب صوره 360 درجة: نصف يوم تصوير لكل مكتب بيع ولكل شقة نموذجية. ينبغي تعيين شخص للمصادقة على حسابات المستشارين ومتابعة الرسائل المتروكة خارج الأوقات. تتطلّب الشاشات ميزانية عتاد وتركيبًا في كل وكالة. التمكّن من الأداة يستغرق ساعة إلى ساعتين لكل فريق: فالشاشات هي نفسها التي يعرفها المستشارون من جهة الزبون.</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يشتغل اليوم على الإنترنت. الموقع العمومي باللغات الأربع: 12 مشروعًا، بطاقات مفصّلة، خريطة عامة، خرائط الأحياء، ألبومات صور وفيديوهات. جولات 360 درجة: المشروع، وشقة نموذجية، ومكتب البيع في إقامة الجوهرة. جدول التسويق: 454 وحدة، مع التصفية ومخطّطات الموقع والحالات والأثمنة. بطاقة معلومات الزبون مع قراءة البطاقة الوطنية، محفوظة في قاعدة البيانات، ووثائق الهوية في خزنة خارج الموقع. الجولة المصحوبة المباشرة بالصوت، والمضيفة الافتراضية الصوتية. مساحة الوكيل التجاري ولوحة الإدارة الكاملة. الاستضافة على خادم خاص، مع النشر بأمر واحد ونسخة احتياطية قبل كل تعديل للمحتوى.</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أُنجز في الأيام الأخيرة، وجاهز للنشر. مزامنة الرسوم والقياسات أثناء الجولة المصحوبة: ما يرسمه المستشار على الخريطة يظهر عند الزبون. مساحة الوكيل ولوحة الإدارة كاملةً مترجمة إلى اللغات الأربع، بما فيها العربية باتجاه الكتابة من اليمين إلى اليسار.</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ما تبقّى للقرار أو للإنجاز. الشاشات اللمسية: اختيار العتاد والوكالات النموذجية. جولات 360 درجة للمشاريع الأحد عشر الأخرى، والفيديوهات الناقصة. إيقاع تحديث جدول الوحدات، والشخص المسؤول عنه.</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ثلاث خطوات مقبلة. عرض توضيحي لمدّة ساعة في الوكالة، على حالة حقيقية: زبون يبحث عن شقة من ثلاث غرف بالدشيرة، من النقرة الأولى إلى البطاقة المملوءة. وكالة نموذجية مجهّزة بشاشة، ومشروع ثانٍ يُستكمل بجولة 360 درجة لقياس الكلفة الحقيقية لكل مشروع. قاعدة لتحديث جدول الوحدات — كل أسبوع، من طرف شخص مُعيَّن — ونشر ترجمات لوحة الإدارة.</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الموقع متاح للاطّلاع الآن: نرجس دوت كومباني. وقائمة عرض توضيحي تعرض التقديم التجاري في أربعة فصول، كما يمكن لمستشار أن يقوده أمام زبون. ويوجد ملف مصوَّر مكمّل بعنوان ما الذي يعرف الموقع أن يفعله، يفصّل الوظائف شاشةً شاشة.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png"/><Relationship Id="rId5"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png"/><Relationship Id="rId5"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png"/><Relationship Id="rId5" Type="http://schemas.openxmlformats.org/officeDocument/2006/relationships/image" Target="../media/image8.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png"/><Relationship Id="rId5" Type="http://schemas.openxmlformats.org/officeDocument/2006/relationships/image" Target="../media/image9.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png"/><Relationship Id="rId5" Type="http://schemas.openxmlformats.org/officeDocument/2006/relationships/image" Target="../media/image10.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png"/><Relationship Id="rId5" Type="http://schemas.openxmlformats.org/officeDocument/2006/relationships/image" Target="../media/image11.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2.png"/><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1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246197b459c9075f42c60ca07aa488d72b5e6020.jpg"/>
          <p:cNvPicPr>
            <a:picLocks noChangeAspect="1"/>
          </p:cNvPicPr>
          <p:nvPr/>
        </p:nvPicPr>
        <p:blipFill>
          <a:blip r:embed="rId5"/>
          <a:srcRect l="26001" r="26001"/>
          <a:stretch>
            <a:fillRect/>
          </a:stretch>
        </p:blipFill>
        <p:spPr>
          <a:xfrm>
            <a:off x="0" y="0"/>
            <a:ext cx="5852014" cy="6858000"/>
          </a:xfrm>
          <a:prstGeom prst="rect">
            <a:avLst/>
          </a:prstGeom>
        </p:spPr>
      </p:pic>
      <p:sp>
        <p:nvSpPr>
          <p:cNvPr id="4" name="TextBox 3"/>
          <p:cNvSpPr txBox="1"/>
          <p:nvPr/>
        </p:nvSpPr>
        <p:spPr>
          <a:xfrm>
            <a:off x="6034894" y="1417320"/>
            <a:ext cx="4968081" cy="365760"/>
          </a:xfrm>
          <a:prstGeom prst="rect">
            <a:avLst/>
          </a:prstGeom>
          <a:noFill/>
        </p:spPr>
        <p:txBody>
          <a:bodyPr wrap="square" lIns="0" tIns="0" rIns="0" bIns="0">
            <a:spAutoFit/>
          </a:bodyPr>
          <a:lstStyle/>
          <a:p>
            <a:pPr rtl="0">
              <a:lnSpc>
                <a:spcPct val="115000"/>
              </a:lnSpc>
            </a:pPr>
            <a:r>
              <a:rPr sz="1300" b="1" i="0" spc="260">
                <a:solidFill>
                  <a:srgbClr val="BD6B16"/>
                </a:solidFill>
                <a:latin typeface="Arial"/>
              </a:rPr>
              <a:t>narjiss.company</a:t>
            </a:r>
          </a:p>
        </p:txBody>
      </p:sp>
      <p:sp>
        <p:nvSpPr>
          <p:cNvPr id="5" name="TextBox 4"/>
          <p:cNvSpPr txBox="1"/>
          <p:nvPr/>
        </p:nvSpPr>
        <p:spPr>
          <a:xfrm>
            <a:off x="6034894" y="2057400"/>
            <a:ext cx="4968081" cy="2011680"/>
          </a:xfrm>
          <a:prstGeom prst="rect">
            <a:avLst/>
          </a:prstGeom>
          <a:noFill/>
        </p:spPr>
        <p:txBody>
          <a:bodyPr wrap="square" lIns="0" tIns="0" rIns="0" bIns="0">
            <a:spAutoFit/>
          </a:bodyPr>
          <a:lstStyle/>
          <a:p>
            <a:pPr algn="r" rtl="1">
              <a:lnSpc>
                <a:spcPct val="112000"/>
              </a:lnSpc>
            </a:pPr>
            <a:r>
              <a:rPr sz="3800" b="0" i="0">
                <a:solidFill>
                  <a:srgbClr val="FFFFFF"/>
                </a:solidFill>
                <a:latin typeface="Arial"/>
                <a:cs typeface="Arial"/>
              </a:rPr>
              <a:t>من موقع للعرض إلى أداة بيع حقيقية</a:t>
            </a:r>
          </a:p>
        </p:txBody>
      </p:sp>
      <p:sp>
        <p:nvSpPr>
          <p:cNvPr id="6" name="Rectangle 5"/>
          <p:cNvSpPr/>
          <p:nvPr/>
        </p:nvSpPr>
        <p:spPr>
          <a:xfrm>
            <a:off x="9722815" y="416052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4894" y="4572000"/>
            <a:ext cx="4968081" cy="1097280"/>
          </a:xfrm>
          <a:prstGeom prst="rect">
            <a:avLst/>
          </a:prstGeom>
          <a:noFill/>
        </p:spPr>
        <p:txBody>
          <a:bodyPr wrap="square" lIns="0" tIns="0" rIns="0" bIns="0">
            <a:spAutoFit/>
          </a:bodyPr>
          <a:lstStyle/>
          <a:p>
            <a:pPr algn="r" rtl="1">
              <a:lnSpc>
                <a:spcPct val="115000"/>
              </a:lnSpc>
            </a:pPr>
            <a:r>
              <a:rPr sz="1500" b="0" i="0">
                <a:solidFill>
                  <a:srgbClr val="C9CEC9"/>
                </a:solidFill>
                <a:latin typeface="Arial"/>
                <a:cs typeface="Arial"/>
              </a:rPr>
              <a:t>ملف تقديمي إلى إدارة نرجس للعقار</a:t>
            </a:r>
          </a:p>
          <a:p>
            <a:pPr algn="r" rtl="1">
              <a:lnSpc>
                <a:spcPct val="115000"/>
              </a:lnSpc>
              <a:spcBef>
                <a:spcPts val="800"/>
              </a:spcBef>
            </a:pPr>
            <a:r>
              <a:rPr sz="1500" b="0" i="0">
                <a:solidFill>
                  <a:srgbClr val="C9CEC9"/>
                </a:solidFill>
                <a:latin typeface="Arial"/>
                <a:cs typeface="Arial"/>
              </a:rPr>
              <a:t>غشت 2026</a:t>
            </a:r>
          </a:p>
        </p:txBody>
      </p:sp>
      <p:pic>
        <p:nvPicPr>
          <p:cNvPr id="8" name="diapo-01-f734940818">
            <a:hlinkClick r:id="" action="ppaction://media"/>
            <a:extLst>
              <a:ext uri="{FF2B5EF4-FFF2-40B4-BE49-F238E27FC236}">
                <a16:creationId xmlns:a16="http://schemas.microsoft.com/office/drawing/2014/main" id="{24218536-4566-27E6-6A24-285F90E88FD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400"/>
    </mc:Choice>
    <mc:Fallback>
      <p:transition spd="slow" advTm="22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1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40280" y="685800"/>
            <a:ext cx="917417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الخلاصة في صفحة واحدة</a:t>
            </a:r>
          </a:p>
        </p:txBody>
      </p:sp>
      <p:sp>
        <p:nvSpPr>
          <p:cNvPr id="4" name="Rectangle 3"/>
          <p:cNvSpPr/>
          <p:nvPr/>
        </p:nvSpPr>
        <p:spPr>
          <a:xfrm>
            <a:off x="10408615"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40280" y="1655064"/>
            <a:ext cx="9174175" cy="4288536"/>
          </a:xfrm>
          <a:prstGeom prst="rect">
            <a:avLst/>
          </a:prstGeom>
          <a:noFill/>
        </p:spPr>
        <p:txBody>
          <a:bodyPr wrap="square" lIns="0" tIns="0" rIns="0" bIns="0">
            <a:spAutoFit/>
          </a:bodyPr>
          <a:lstStyle/>
          <a:p>
            <a:pPr algn="r" rtl="1">
              <a:lnSpc>
                <a:spcPct val="142000"/>
              </a:lnSpc>
            </a:pPr>
            <a:r>
              <a:rPr sz="1600" b="0" i="0">
                <a:solidFill>
                  <a:srgbClr val="16211C"/>
                </a:solidFill>
                <a:latin typeface="Arial"/>
                <a:cs typeface="Arial"/>
              </a:rPr>
              <a:t>narjiss.company ليس موقعًا جديدًا للعرض، بل هو الأداة التي تبيع بها نرجس: يرى فيه الزبون الشقق المتاحة فعلًا، ويتحقّق بنفسه من محيط المشروع، ويقوم بجولة 360°، ويتحدّث مع مستشار مباشرة — وإذا لم يكن أحد متاحًا، تردّ عليه مضيفة افتراضية بصوتها، بلغته. أمّا الفريق، فيحدّث كل شيء من لوحة إدارة، دون مبرمج، وباللغات الأربع للموقع.</a:t>
            </a:r>
          </a:p>
          <a:p>
            <a:pPr algn="r" rtl="1">
              <a:lnSpc>
                <a:spcPct val="142000"/>
              </a:lnSpc>
              <a:spcBef>
                <a:spcPts val="1200"/>
              </a:spcBef>
            </a:pPr>
            <a:r>
              <a:rPr sz="1600" b="0" i="0">
                <a:solidFill>
                  <a:srgbClr val="16211C"/>
                </a:solidFill>
                <a:latin typeface="Arial"/>
                <a:cs typeface="Arial"/>
              </a:rPr>
              <a:t>الموقع متاح على الإنترنت ويشتغل اليوم. يشرح هذا الملف ما الذي يغيّره في البيع، وما الذي يقدّمه للزبون، وما الذي يتطلّبه من الشركة، ولماذا تُعدّ الشاشة اللمسية في كل وكالة امتدادًا طبيعيًا له.</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a:t>
            </a:r>
          </a:p>
        </p:txBody>
      </p:sp>
      <p:pic>
        <p:nvPicPr>
          <p:cNvPr id="8" name="diapo-02-d3267fa95b">
            <a:hlinkClick r:id="" action="ppaction://media"/>
            <a:extLst>
              <a:ext uri="{FF2B5EF4-FFF2-40B4-BE49-F238E27FC236}">
                <a16:creationId xmlns:a16="http://schemas.microsoft.com/office/drawing/2014/main" id="{40CDF141-0A05-E864-3FA5-607803E66C3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500"/>
    </mc:Choice>
    <mc:Fallback>
      <p:transition spd="slow" advTm="5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3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الخلاصة في صفحة واحدة</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ستّة أمور لا يستطيعها الموقع الحالي ولا منشورات فيسبوك</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400" b="0" i="0">
                <a:solidFill>
                  <a:srgbClr val="16211C"/>
                </a:solidFill>
                <a:latin typeface="Arial"/>
                <a:cs typeface="Arial"/>
              </a:rPr>
              <a:t>إظهار الشقق المتاحة والمحجوزة مؤقّتًا والمحجوزة والمباعة، لحظة بلحظة — 454 وحدة اليوم في الجدول.</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إثبات ما يوجد حول المشروع: في إقامة الجوهرة، 77 مرفقًا أُحصيت واحدًا واحدًا، منها 21 مدرسة و15 صيدلية، مع المسافة إلى كل واحد منها.</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تمكين الزبون من زيارة المشروع وشقة نموذجية ومكتب البيع بتقنية 360°، من هاتفه، ومن أي بلد.</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تمكين العائلة كلّها من المقارنة والقرار معًا، كلٌّ بلغته، دون تنقّل.</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مرافقة الزبون عن بُعد ومباشرة: المستشار يقود شاشة الزبون ويشرح بصوته.</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الاحتفاظ بأثر قابل للاستثمار لكل اتصال: بطاقة الزبون، الشقق المختارة، الرسائل، والإجراءات المتّخذة.</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3</a:t>
            </a:r>
          </a:p>
        </p:txBody>
      </p:sp>
      <p:pic>
        <p:nvPicPr>
          <p:cNvPr id="9" name="diapo-03-ccbecd603e">
            <a:hlinkClick r:id="" action="ppaction://media"/>
            <a:extLst>
              <a:ext uri="{FF2B5EF4-FFF2-40B4-BE49-F238E27FC236}">
                <a16:creationId xmlns:a16="http://schemas.microsoft.com/office/drawing/2014/main" id="{9A053790-EE82-6DAB-96D1-C1669E3E837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8600"/>
    </mc:Choice>
    <mc:Fallback>
      <p:transition spd="slow" advTm="78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4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أين نحن اليوم</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الموقع الحالي: narjissimmobiliere.com</a:t>
            </a:r>
          </a:p>
        </p:txBody>
      </p:sp>
      <p:sp>
        <p:nvSpPr>
          <p:cNvPr id="5" name="Rectangle 4"/>
          <p:cNvSpPr/>
          <p:nvPr/>
        </p:nvSpPr>
        <p:spPr>
          <a:xfrm>
            <a:off x="10408615"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532888"/>
            <a:ext cx="4480560" cy="34107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هو واجهة أنيقة: يعرّف بالشركة وقيمها ومشاريعها، ويؤدّي جيّدًا ما صُمّم من أجله، ويظلّ مفيدًا لصورة العلامة.</a:t>
            </a:r>
          </a:p>
          <a:p>
            <a:pPr algn="r" rtl="1">
              <a:lnSpc>
                <a:spcPct val="142000"/>
              </a:lnSpc>
              <a:spcBef>
                <a:spcPts val="1200"/>
              </a:spcBef>
            </a:pPr>
            <a:r>
              <a:rPr sz="1500" b="0" i="0">
                <a:solidFill>
                  <a:srgbClr val="16211C"/>
                </a:solidFill>
                <a:latin typeface="Arial"/>
                <a:cs typeface="Arial"/>
              </a:rPr>
              <a:t>لكنه يتوقّف حيث يبدأ البيع. لا يقول ما تبقّى متاحًا، ولا يعرض شقة بعينها، ولا يُثبت المحيط، ولا يسمح بالزيارة، ولا يحتفظ بأي أثر عن الزائر. وكل تحديث يمرّ عبر مزوّد خدمة.</a:t>
            </a:r>
          </a:p>
        </p:txBody>
      </p:sp>
      <p:pic>
        <p:nvPicPr>
          <p:cNvPr id="7" name="Picture 6" descr="afb086fd4bea811b767f68bfdc210ac065ce5563.jpg"/>
          <p:cNvPicPr>
            <a:picLocks noChangeAspect="1"/>
          </p:cNvPicPr>
          <p:nvPr/>
        </p:nvPicPr>
        <p:blipFill>
          <a:blip r:embed="rId5"/>
          <a:stretch>
            <a:fillRect/>
          </a:stretch>
        </p:blipFill>
        <p:spPr>
          <a:xfrm>
            <a:off x="777240" y="1124903"/>
            <a:ext cx="5516575" cy="3830954"/>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narjissimmobiliere.com — واجهة: نتعرّف فيها على الشركة، لكن لا نختار فيها شقة.</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4</a:t>
            </a:r>
          </a:p>
        </p:txBody>
      </p:sp>
      <p:pic>
        <p:nvPicPr>
          <p:cNvPr id="11" name="diapo-04-a38e25396a">
            <a:hlinkClick r:id="" action="ppaction://media"/>
            <a:extLst>
              <a:ext uri="{FF2B5EF4-FFF2-40B4-BE49-F238E27FC236}">
                <a16:creationId xmlns:a16="http://schemas.microsoft.com/office/drawing/2014/main" id="{15662A8C-F8B0-DC94-FA55-7BAFE390995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00"/>
    </mc:Choice>
    <mc:Fallback>
      <p:transition spd="slow" advTm="4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40280" y="685800"/>
            <a:ext cx="917417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أين نحن اليوم</a:t>
            </a:r>
          </a:p>
        </p:txBody>
      </p:sp>
      <p:sp>
        <p:nvSpPr>
          <p:cNvPr id="4" name="TextBox 3"/>
          <p:cNvSpPr txBox="1"/>
          <p:nvPr/>
        </p:nvSpPr>
        <p:spPr>
          <a:xfrm>
            <a:off x="2240280" y="1106424"/>
            <a:ext cx="917417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منشورات فيسبوك</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40280" y="2075688"/>
            <a:ext cx="9174175" cy="3867912"/>
          </a:xfrm>
          <a:prstGeom prst="rect">
            <a:avLst/>
          </a:prstGeom>
          <a:noFill/>
        </p:spPr>
        <p:txBody>
          <a:bodyPr wrap="square" lIns="0" tIns="0" rIns="0" bIns="0">
            <a:spAutoFit/>
          </a:bodyPr>
          <a:lstStyle/>
          <a:p>
            <a:pPr algn="r" rtl="1">
              <a:lnSpc>
                <a:spcPct val="142000"/>
              </a:lnSpc>
            </a:pPr>
            <a:r>
              <a:rPr sz="1600" b="0" i="0">
                <a:solidFill>
                  <a:srgbClr val="16211C"/>
                </a:solidFill>
                <a:latin typeface="Arial"/>
                <a:cs typeface="Arial"/>
              </a:rPr>
              <a:t>تجلب الجمهور، ويجب الإبقاء عليها. لكن حدودها معروفة لدى كل من يبيع: الفيديو ينزل في الحائط ويختفي، وعبارة «كل شيء قريب» لا يمكن التحقّق منها، والتعليق ليس ملفًّا للزبون، والمنشور الواحد لا يخاطب سوى لغة واحدة. والأهم أن منشورًا على فيسبوك لا يمكنه أن يخبر زبونًا بما تبقّى متاحًا هذا الصباح.</a:t>
            </a:r>
          </a:p>
          <a:p>
            <a:pPr algn="r" rtl="1">
              <a:lnSpc>
                <a:spcPct val="142000"/>
              </a:lnSpc>
              <a:spcBef>
                <a:spcPts val="1200"/>
              </a:spcBef>
            </a:pPr>
            <a:r>
              <a:rPr sz="1600" b="0" i="0">
                <a:solidFill>
                  <a:srgbClr val="16211C"/>
                </a:solidFill>
                <a:latin typeface="Arial"/>
                <a:cs typeface="Arial"/>
              </a:rPr>
              <a:t>ليست المسألة اختيارًا بين الاثنين: فيسبوك يجلب الزائر، وnarjiss.company يحوّل الزيارة إلى قرار، ويحتفظ بالأثر.</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5</a:t>
            </a:r>
          </a:p>
        </p:txBody>
      </p:sp>
      <p:pic>
        <p:nvPicPr>
          <p:cNvPr id="9" name="diapo-05-919265d664">
            <a:hlinkClick r:id="" action="ppaction://media"/>
            <a:extLst>
              <a:ext uri="{FF2B5EF4-FFF2-40B4-BE49-F238E27FC236}">
                <a16:creationId xmlns:a16="http://schemas.microsoft.com/office/drawing/2014/main" id="{93A544D5-3662-3631-74F5-9E488FF574F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600"/>
    </mc:Choice>
    <mc:Fallback>
      <p:transition spd="slow" advTm="46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3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600200"/>
            <a:ext cx="10637215" cy="1005840"/>
          </a:xfrm>
          <a:prstGeom prst="rect">
            <a:avLst/>
          </a:prstGeom>
          <a:noFill/>
        </p:spPr>
        <p:txBody>
          <a:bodyPr wrap="square" lIns="0" tIns="0" rIns="0" bIns="0">
            <a:spAutoFit/>
          </a:bodyPr>
          <a:lstStyle/>
          <a:p>
            <a:pPr algn="r" rtl="1">
              <a:lnSpc>
                <a:spcPct val="115000"/>
              </a:lnSpc>
            </a:pPr>
            <a:r>
              <a:rPr sz="3400" b="0" i="0">
                <a:solidFill>
                  <a:srgbClr val="16211C"/>
                </a:solidFill>
                <a:latin typeface="Arial"/>
                <a:cs typeface="Arial"/>
              </a:rPr>
              <a:t>ما يعيشه الزبون، في خمس مراحل</a:t>
            </a:r>
          </a:p>
        </p:txBody>
      </p:sp>
      <p:sp>
        <p:nvSpPr>
          <p:cNvPr id="4" name="Rectangle 3"/>
          <p:cNvSpPr/>
          <p:nvPr/>
        </p:nvSpPr>
        <p:spPr>
          <a:xfrm>
            <a:off x="10134295" y="269748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794760"/>
            <a:ext cx="1688531" cy="1463040"/>
          </a:xfrm>
          <a:prstGeom prst="rect">
            <a:avLst/>
          </a:prstGeom>
          <a:noFill/>
        </p:spPr>
        <p:txBody>
          <a:bodyPr wrap="square" lIns="0" tIns="0" rIns="0" bIns="0">
            <a:spAutoFit/>
          </a:bodyPr>
          <a:lstStyle/>
          <a:p>
            <a:pPr algn="r" rtl="1">
              <a:lnSpc>
                <a:spcPct val="130000"/>
              </a:lnSpc>
            </a:pPr>
            <a:r>
              <a:rPr sz="1500" b="0" i="0">
                <a:solidFill>
                  <a:srgbClr val="16211C"/>
                </a:solidFill>
                <a:latin typeface="Arial"/>
                <a:cs typeface="Arial"/>
              </a:rPr>
              <a:t>5. يقرّر مع عائلته، ولو عن بُعد</a:t>
            </a:r>
          </a:p>
        </p:txBody>
      </p:sp>
      <p:sp>
        <p:nvSpPr>
          <p:cNvPr id="7" name="Rectangle 6"/>
          <p:cNvSpPr/>
          <p:nvPr/>
        </p:nvSpPr>
        <p:spPr>
          <a:xfrm>
            <a:off x="3014411"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4411" y="3794760"/>
            <a:ext cx="1688531" cy="1463040"/>
          </a:xfrm>
          <a:prstGeom prst="rect">
            <a:avLst/>
          </a:prstGeom>
          <a:noFill/>
        </p:spPr>
        <p:txBody>
          <a:bodyPr wrap="square" lIns="0" tIns="0" rIns="0" bIns="0">
            <a:spAutoFit/>
          </a:bodyPr>
          <a:lstStyle/>
          <a:p>
            <a:pPr algn="r" rtl="1">
              <a:lnSpc>
                <a:spcPct val="130000"/>
              </a:lnSpc>
            </a:pPr>
            <a:r>
              <a:rPr sz="1500" b="0" i="0">
                <a:solidFill>
                  <a:srgbClr val="16211C"/>
                </a:solidFill>
                <a:latin typeface="Arial"/>
                <a:cs typeface="Arial"/>
              </a:rPr>
              <a:t>4. يختار شقّته</a:t>
            </a:r>
          </a:p>
        </p:txBody>
      </p:sp>
      <p:sp>
        <p:nvSpPr>
          <p:cNvPr id="9" name="Rectangle 8"/>
          <p:cNvSpPr/>
          <p:nvPr/>
        </p:nvSpPr>
        <p:spPr>
          <a:xfrm>
            <a:off x="5251582"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51582" y="3794760"/>
            <a:ext cx="1688531" cy="1463040"/>
          </a:xfrm>
          <a:prstGeom prst="rect">
            <a:avLst/>
          </a:prstGeom>
          <a:noFill/>
        </p:spPr>
        <p:txBody>
          <a:bodyPr wrap="square" lIns="0" tIns="0" rIns="0" bIns="0">
            <a:spAutoFit/>
          </a:bodyPr>
          <a:lstStyle/>
          <a:p>
            <a:pPr algn="r" rtl="1">
              <a:lnSpc>
                <a:spcPct val="130000"/>
              </a:lnSpc>
            </a:pPr>
            <a:r>
              <a:rPr sz="1500" b="0" i="0">
                <a:solidFill>
                  <a:srgbClr val="16211C"/>
                </a:solidFill>
                <a:latin typeface="Arial"/>
                <a:cs typeface="Arial"/>
              </a:rPr>
              <a:t>3. يزور</a:t>
            </a:r>
          </a:p>
        </p:txBody>
      </p:sp>
      <p:sp>
        <p:nvSpPr>
          <p:cNvPr id="11" name="Rectangle 10"/>
          <p:cNvSpPr/>
          <p:nvPr/>
        </p:nvSpPr>
        <p:spPr>
          <a:xfrm>
            <a:off x="7488753"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88753" y="3794760"/>
            <a:ext cx="1688531" cy="1463040"/>
          </a:xfrm>
          <a:prstGeom prst="rect">
            <a:avLst/>
          </a:prstGeom>
          <a:noFill/>
        </p:spPr>
        <p:txBody>
          <a:bodyPr wrap="square" lIns="0" tIns="0" rIns="0" bIns="0">
            <a:spAutoFit/>
          </a:bodyPr>
          <a:lstStyle/>
          <a:p>
            <a:pPr algn="r" rtl="1">
              <a:lnSpc>
                <a:spcPct val="130000"/>
              </a:lnSpc>
            </a:pPr>
            <a:r>
              <a:rPr sz="1500" b="0" i="0">
                <a:solidFill>
                  <a:srgbClr val="16211C"/>
                </a:solidFill>
                <a:latin typeface="Arial"/>
                <a:cs typeface="Arial"/>
              </a:rPr>
              <a:t>2. يتحقّق من الحيّ — وهذه هي النقطة الحاسمة</a:t>
            </a:r>
          </a:p>
        </p:txBody>
      </p:sp>
      <p:sp>
        <p:nvSpPr>
          <p:cNvPr id="13" name="Rectangle 12"/>
          <p:cNvSpPr/>
          <p:nvPr/>
        </p:nvSpPr>
        <p:spPr>
          <a:xfrm>
            <a:off x="9725924"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25924" y="3794760"/>
            <a:ext cx="1688531" cy="1463040"/>
          </a:xfrm>
          <a:prstGeom prst="rect">
            <a:avLst/>
          </a:prstGeom>
          <a:noFill/>
        </p:spPr>
        <p:txBody>
          <a:bodyPr wrap="square" lIns="0" tIns="0" rIns="0" bIns="0">
            <a:spAutoFit/>
          </a:bodyPr>
          <a:lstStyle/>
          <a:p>
            <a:pPr algn="r" rtl="1">
              <a:lnSpc>
                <a:spcPct val="130000"/>
              </a:lnSpc>
            </a:pPr>
            <a:r>
              <a:rPr sz="1500" b="0" i="0">
                <a:solidFill>
                  <a:srgbClr val="16211C"/>
                </a:solidFill>
                <a:latin typeface="Arial"/>
                <a:cs typeface="Arial"/>
              </a:rPr>
              <a:t>1. يكتشف</a:t>
            </a:r>
          </a:p>
        </p:txBody>
      </p:sp>
      <p:sp>
        <p:nvSpPr>
          <p:cNvPr id="15" name="Rectangle 14"/>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6</a:t>
            </a:r>
          </a:p>
        </p:txBody>
      </p:sp>
      <p:pic>
        <p:nvPicPr>
          <p:cNvPr id="17" name="diapo-06-165a10cb8d">
            <a:hlinkClick r:id="" action="ppaction://media"/>
            <a:extLst>
              <a:ext uri="{FF2B5EF4-FFF2-40B4-BE49-F238E27FC236}">
                <a16:creationId xmlns:a16="http://schemas.microsoft.com/office/drawing/2014/main" id="{FAA0D8B6-4C99-F648-52F0-220194F2C76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50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يعيشه الزبون، في خمس مراحل</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1. يكتشف</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صفحة استقبال، اثنا عشر مشروعًا، وخريطة للمغرب. يختار الزائر لغته من أعلى الصفحة — الفرنسية أو الإنجليزية أو العربية أو الإسبانية — فيتبعه الموقع كلّه، بما في ذلك العربية من اليمين إلى اليسار.</a:t>
            </a:r>
          </a:p>
        </p:txBody>
      </p:sp>
      <p:pic>
        <p:nvPicPr>
          <p:cNvPr id="7" name="Picture 6" descr="64913ab1480b5f58e508bba51c4633bd8e8a9aa3.jpg"/>
          <p:cNvPicPr>
            <a:picLocks noChangeAspect="1"/>
          </p:cNvPicPr>
          <p:nvPr/>
        </p:nvPicPr>
        <p:blipFill>
          <a:blip r:embed="rId5"/>
          <a:stretch>
            <a:fillRect/>
          </a:stretch>
        </p:blipFill>
        <p:spPr>
          <a:xfrm>
            <a:off x="777240" y="1316450"/>
            <a:ext cx="5516575" cy="3447859"/>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صفحة الاستقبال: المشاريع، الخريطة العامة، العرض التوضيحي، واللغات الأربع.</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7</a:t>
            </a:r>
          </a:p>
        </p:txBody>
      </p:sp>
      <p:pic>
        <p:nvPicPr>
          <p:cNvPr id="11" name="diapo-07-9e2d25d2ba">
            <a:hlinkClick r:id="" action="ppaction://media"/>
            <a:extLst>
              <a:ext uri="{FF2B5EF4-FFF2-40B4-BE49-F238E27FC236}">
                <a16:creationId xmlns:a16="http://schemas.microsoft.com/office/drawing/2014/main" id="{A64993E4-2630-8BAB-2AE5-F26C33D57DF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300"/>
    </mc:Choice>
    <mc:Fallback>
      <p:transition spd="slow" advTm="27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0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يعيشه الزبون، في خمس مراحل</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2. يتحقّق من الحيّ — وهذه هي النقطة الحاسمة</a:t>
            </a:r>
          </a:p>
        </p:txBody>
      </p:sp>
      <p:sp>
        <p:nvSpPr>
          <p:cNvPr id="5" name="Rectangle 4"/>
          <p:cNvSpPr/>
          <p:nvPr/>
        </p:nvSpPr>
        <p:spPr>
          <a:xfrm>
            <a:off x="10408615"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532888"/>
            <a:ext cx="4480560" cy="34107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سؤال المشتري الأول ليس الثمن، بل: «ما الذي يوجد حول المشروع؟». الفيديو الذي يقول «كل شيء قريب» يطلب منك أن تثق. أمّا خريطة تذكر 21 مدرسة و15 صيدلية و7 خطوط نقل و7 مساجد، مع مسافة كل واحد منها عن المشروع، فلا تطلب منك شيئًا.</a:t>
            </a:r>
          </a:p>
          <a:p>
            <a:pPr algn="r" rtl="1">
              <a:lnSpc>
                <a:spcPct val="142000"/>
              </a:lnSpc>
              <a:spcBef>
                <a:spcPts val="1200"/>
              </a:spcBef>
            </a:pPr>
            <a:r>
              <a:rPr sz="1500" b="0" i="0">
                <a:solidFill>
                  <a:srgbClr val="16211C"/>
                </a:solidFill>
                <a:latin typeface="Arial"/>
                <a:cs typeface="Arial"/>
              </a:rPr>
              <a:t>يصفّي الزبون حسب الفئة، ويرتّب حسب المسافة، ويفتح المسار، ويرسله إلى واتساب. ليس مضطرًّا لأن يصدّقنا: هو يتحقّق بنفسه.</a:t>
            </a:r>
          </a:p>
        </p:txBody>
      </p:sp>
      <p:pic>
        <p:nvPicPr>
          <p:cNvPr id="7" name="Picture 6" descr="655ff865d65a27b06e3733420233e7bc0617b4a6.jpg"/>
          <p:cNvPicPr>
            <a:picLocks noChangeAspect="1"/>
          </p:cNvPicPr>
          <p:nvPr/>
        </p:nvPicPr>
        <p:blipFill>
          <a:blip r:embed="rId5"/>
          <a:stretch>
            <a:fillRect/>
          </a:stretch>
        </p:blipFill>
        <p:spPr>
          <a:xfrm>
            <a:off x="777240" y="1124903"/>
            <a:ext cx="5516575" cy="3830954"/>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إقامة الجوهرة: 77 نقطة اهتمام أُحصيت واحدة واحدة، قابلة للتصفية وقياس المسافة. وأكثر من 900 مرفق مرسوم على خرائط مجموع المشاريع.</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8</a:t>
            </a:r>
          </a:p>
        </p:txBody>
      </p:sp>
      <p:pic>
        <p:nvPicPr>
          <p:cNvPr id="11" name="diapo-08-f17eca22ab">
            <a:hlinkClick r:id="" action="ppaction://media"/>
            <a:extLst>
              <a:ext uri="{FF2B5EF4-FFF2-40B4-BE49-F238E27FC236}">
                <a16:creationId xmlns:a16="http://schemas.microsoft.com/office/drawing/2014/main" id="{D8179778-70C2-8A63-5221-630ECE0186C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500"/>
    </mc:Choice>
    <mc:Fallback>
      <p:transition spd="slow" advTm="60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2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يعيشه الزبون، في خمس مراحل</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3. يزور</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جولة 360° في المشروع، شقة نموذجية، مخطّط المهندس والمخطّط التجاري قابلان للتراكب، فيديوهات، وألبوم صور. يدير الزبون رأسه بإصبعه على هاتفه، أو على الشاشة الكبيرة في الوكالة.</a:t>
            </a:r>
          </a:p>
        </p:txBody>
      </p:sp>
      <p:pic>
        <p:nvPicPr>
          <p:cNvPr id="7" name="Picture 6" descr="922c29033ad0d0d99a0fd845f73ba1b45f293ac7.jpg"/>
          <p:cNvPicPr>
            <a:picLocks noChangeAspect="1"/>
          </p:cNvPicPr>
          <p:nvPr/>
        </p:nvPicPr>
        <p:blipFill>
          <a:blip r:embed="rId5"/>
          <a:stretch>
            <a:fillRect/>
          </a:stretch>
        </p:blipFill>
        <p:spPr>
          <a:xfrm>
            <a:off x="816181" y="868680"/>
            <a:ext cx="5438692" cy="4343400"/>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بطاقة المشروع: الجولة 360° تملأ الشاشة، وبقيّة الوسائط على بُعد نقرة واحدة.</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9</a:t>
            </a:r>
          </a:p>
        </p:txBody>
      </p:sp>
      <p:pic>
        <p:nvPicPr>
          <p:cNvPr id="11" name="diapo-09-8938d85364">
            <a:hlinkClick r:id="" action="ppaction://media"/>
            <a:extLst>
              <a:ext uri="{FF2B5EF4-FFF2-40B4-BE49-F238E27FC236}">
                <a16:creationId xmlns:a16="http://schemas.microsoft.com/office/drawing/2014/main" id="{48E7D73F-169F-8C89-E51B-27911030F47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600"/>
    </mc:Choice>
    <mc:Fallback>
      <p:transition spd="slow" advTm="30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4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يعيشه الزبون، في خمس مراحل</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4. يختار شقّته</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هذا هو قلب الأداة، وهو ما لا يفعله أي موقع عرض. جدول التسويق — الذي يعيش اليوم في ملف Excel — يصير مخطّطًا يتصرّف فيه الزبون بنفسه: عمارة عمارة، وطابقًا طابقًا، مع حالة كل شقة ومساحتها واتجاهها وثمنها.</a:t>
            </a:r>
          </a:p>
          <a:p>
            <a:pPr algn="r" rtl="1">
              <a:lnSpc>
                <a:spcPct val="142000"/>
              </a:lnSpc>
              <a:spcBef>
                <a:spcPts val="1200"/>
              </a:spcBef>
            </a:pPr>
            <a:r>
              <a:rPr sz="1500" b="0" i="0">
                <a:solidFill>
                  <a:srgbClr val="16211C"/>
                </a:solidFill>
                <a:latin typeface="Arial"/>
                <a:cs typeface="Arial"/>
              </a:rPr>
              <a:t>يصفّي حسب معاييره، ويحتفظ بثلاث شقق على الأكثر، ويقارن بينها، ثم يرسل اختياره. فيعاود المستشار الاتصال به وهذه الشقق أمام عينيه.</a:t>
            </a:r>
          </a:p>
        </p:txBody>
      </p:sp>
      <p:pic>
        <p:nvPicPr>
          <p:cNvPr id="7" name="Picture 6" descr="4d1e3bac7ec0349d137f3927b71cb315f6f70b80.jpg"/>
          <p:cNvPicPr>
            <a:picLocks noChangeAspect="1"/>
          </p:cNvPicPr>
          <p:nvPr/>
        </p:nvPicPr>
        <p:blipFill>
          <a:blip r:embed="rId5"/>
          <a:stretch>
            <a:fillRect/>
          </a:stretch>
        </p:blipFill>
        <p:spPr>
          <a:xfrm>
            <a:off x="777240" y="933355"/>
            <a:ext cx="5516575" cy="4214050"/>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مخطّط الموقع، عمارة عمارة، مع عدد الشقق التي ما تزال متاحة. أربع حالات، بالألوان نفسها المعتمدة في مكتب البيع.</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10</a:t>
            </a:r>
          </a:p>
        </p:txBody>
      </p:sp>
      <p:pic>
        <p:nvPicPr>
          <p:cNvPr id="11" name="diapo-10-576a6da524">
            <a:hlinkClick r:id="" action="ppaction://media"/>
            <a:extLst>
              <a:ext uri="{FF2B5EF4-FFF2-40B4-BE49-F238E27FC236}">
                <a16:creationId xmlns:a16="http://schemas.microsoft.com/office/drawing/2014/main" id="{631A3E70-A64D-C496-CE9D-A2576911799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00"/>
    </mc:Choice>
    <mc:Fallback>
      <p:transition spd="slow" advTm="54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0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40280" y="685800"/>
            <a:ext cx="917417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يعيشه الزبون، في خمس مراحل</a:t>
            </a:r>
          </a:p>
        </p:txBody>
      </p:sp>
      <p:sp>
        <p:nvSpPr>
          <p:cNvPr id="4" name="TextBox 3"/>
          <p:cNvSpPr txBox="1"/>
          <p:nvPr/>
        </p:nvSpPr>
        <p:spPr>
          <a:xfrm>
            <a:off x="2240280" y="1106424"/>
            <a:ext cx="917417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5. يقرّر مع عائلته، ولو عن بُعد</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40280" y="2075688"/>
            <a:ext cx="9174175" cy="3867912"/>
          </a:xfrm>
          <a:prstGeom prst="rect">
            <a:avLst/>
          </a:prstGeom>
          <a:noFill/>
        </p:spPr>
        <p:txBody>
          <a:bodyPr wrap="square" lIns="0" tIns="0" rIns="0" bIns="0">
            <a:spAutoFit/>
          </a:bodyPr>
          <a:lstStyle/>
          <a:p>
            <a:pPr algn="r" rtl="1">
              <a:lnSpc>
                <a:spcPct val="142000"/>
              </a:lnSpc>
            </a:pPr>
            <a:r>
              <a:rPr sz="1600" b="0" i="0">
                <a:solidFill>
                  <a:srgbClr val="16211C"/>
                </a:solidFill>
                <a:latin typeface="Arial"/>
                <a:cs typeface="Arial"/>
              </a:rPr>
              <a:t>رابط واحد يكفي لمشاركة اختيار. الابن في الدار البيضاء، والأب في أكادير، والعمّ في بروكسل، يرون المخطّط نفسه والجولة نفسها والخريطة نفسها — كلٌّ بلغته. وهذه بالضبط حالة مغربي مقيم بالخارج يشتري لعائلته: كان إلى اليوم يشتري بالكلام والصور.</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11</a:t>
            </a:r>
          </a:p>
        </p:txBody>
      </p:sp>
      <p:pic>
        <p:nvPicPr>
          <p:cNvPr id="9" name="diapo-11-c3eee5c886">
            <a:hlinkClick r:id="" action="ppaction://media"/>
            <a:extLst>
              <a:ext uri="{FF2B5EF4-FFF2-40B4-BE49-F238E27FC236}">
                <a16:creationId xmlns:a16="http://schemas.microsoft.com/office/drawing/2014/main" id="{9BFE60BE-BF33-611C-8A85-5607FDA26F5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500"/>
    </mc:Choice>
    <mc:Fallback>
      <p:transition spd="slow" advTm="3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3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40280" y="685800"/>
            <a:ext cx="917417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الإنسان أوّلًا، والآلة سندًا</a:t>
            </a:r>
          </a:p>
        </p:txBody>
      </p:sp>
      <p:sp>
        <p:nvSpPr>
          <p:cNvPr id="4" name="TextBox 3"/>
          <p:cNvSpPr txBox="1"/>
          <p:nvPr/>
        </p:nvSpPr>
        <p:spPr>
          <a:xfrm>
            <a:off x="2240280" y="1106424"/>
            <a:ext cx="917417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الجولة المصحوبة المباشرة</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40280" y="2075688"/>
            <a:ext cx="9174175" cy="3867912"/>
          </a:xfrm>
          <a:prstGeom prst="rect">
            <a:avLst/>
          </a:prstGeom>
          <a:noFill/>
        </p:spPr>
        <p:txBody>
          <a:bodyPr wrap="square" lIns="0" tIns="0" rIns="0" bIns="0">
            <a:spAutoFit/>
          </a:bodyPr>
          <a:lstStyle/>
          <a:p>
            <a:pPr algn="r" rtl="1">
              <a:lnSpc>
                <a:spcPct val="142000"/>
              </a:lnSpc>
            </a:pPr>
            <a:r>
              <a:rPr sz="1600" b="0" i="0">
                <a:solidFill>
                  <a:srgbClr val="16211C"/>
                </a:solidFill>
                <a:latin typeface="Arial"/>
                <a:cs typeface="Arial"/>
              </a:rPr>
              <a:t>يفتح المستشار جولة، ويعطي رمزًا من ستّة أرقام، فيُدخله الزبون من بيته. ومنذ تلك اللحظة تتبع شاشةُ الزبون شاشةَ المستشار: تغيير الصفحة، التنقّل على الخريطة، الدوران داخل جولة 360°، والرسم بالإصبع على المخطّط. والصوت يمرّ في القناة نفسها.</a:t>
            </a:r>
          </a:p>
          <a:p>
            <a:pPr algn="r" rtl="1">
              <a:lnSpc>
                <a:spcPct val="142000"/>
              </a:lnSpc>
              <a:spcBef>
                <a:spcPts val="1200"/>
              </a:spcBef>
            </a:pPr>
            <a:r>
              <a:rPr sz="1600" b="0" i="0">
                <a:solidFill>
                  <a:srgbClr val="16211C"/>
                </a:solidFill>
                <a:latin typeface="Arial"/>
                <a:cs typeface="Arial"/>
              </a:rPr>
              <a:t>عمليًّا: يحيط المستشار بوحدة على الخريطة، ويقيس المسافة إلى المدرسة، فيرى الزبون الخطّ يُرسم على شاشته هو، مباشرة.</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12</a:t>
            </a:r>
          </a:p>
        </p:txBody>
      </p:sp>
      <p:pic>
        <p:nvPicPr>
          <p:cNvPr id="9" name="diapo-12-77bdc39445">
            <a:hlinkClick r:id="" action="ppaction://media"/>
            <a:extLst>
              <a:ext uri="{FF2B5EF4-FFF2-40B4-BE49-F238E27FC236}">
                <a16:creationId xmlns:a16="http://schemas.microsoft.com/office/drawing/2014/main" id="{8997DCBC-8E27-67DA-B7D5-809B536166C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00"/>
    </mc:Choice>
    <mc:Fallback>
      <p:transition spd="slow" advTm="40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4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الإنسان أوّلًا، والآلة سندًا</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المضيفة الافتراضية، حين لا يكون أحد</a:t>
            </a:r>
          </a:p>
        </p:txBody>
      </p:sp>
      <p:sp>
        <p:nvSpPr>
          <p:cNvPr id="5" name="Rectangle 4"/>
          <p:cNvSpPr/>
          <p:nvPr/>
        </p:nvSpPr>
        <p:spPr>
          <a:xfrm>
            <a:off x="10408615"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532888"/>
            <a:ext cx="4480560" cy="34107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في المساء، وفي عطلة نهاية الأسبوع، وحين يتّصل زبون من مونتريال على الساعة الثالثة صباحًا، تتكفّل مضيفة افتراضية بالردّ.</a:t>
            </a:r>
          </a:p>
          <a:p>
            <a:pPr algn="r" rtl="1">
              <a:lnSpc>
                <a:spcPct val="142000"/>
              </a:lnSpc>
              <a:spcBef>
                <a:spcPts val="1200"/>
              </a:spcBef>
            </a:pPr>
            <a:r>
              <a:rPr sz="1500" b="0" i="0">
                <a:solidFill>
                  <a:srgbClr val="16211C"/>
                </a:solidFill>
                <a:latin typeface="Arial"/>
                <a:cs typeface="Arial"/>
              </a:rPr>
              <a:t>وفي صباح اليوم الموالي يجد الوكيل التجاري الرسالة في مساحته، مع تفريغها ورقم الهاتف: فيعاود الاتصال وهو يعرف الطلب مسبقًا. ولا تضيع أي مكالمة.</a:t>
            </a:r>
          </a:p>
        </p:txBody>
      </p:sp>
      <p:pic>
        <p:nvPicPr>
          <p:cNvPr id="7" name="Picture 6" descr="415f07550bae6e5734f3f6d7e139c1225ef1ce97.jpg"/>
          <p:cNvPicPr>
            <a:picLocks noChangeAspect="1"/>
          </p:cNvPicPr>
          <p:nvPr/>
        </p:nvPicPr>
        <p:blipFill>
          <a:blip r:embed="rId5"/>
          <a:stretch>
            <a:fillRect/>
          </a:stretch>
        </p:blipFill>
        <p:spPr>
          <a:xfrm>
            <a:off x="777240" y="1316450"/>
            <a:ext cx="5516575" cy="3447859"/>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مكتب البيع في جولة افتراضية، مع زرّ «التحدّث إلى المضيفة». يدفع الزبون الباب قبل أن يتنقّل.</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13</a:t>
            </a:r>
          </a:p>
        </p:txBody>
      </p:sp>
      <p:pic>
        <p:nvPicPr>
          <p:cNvPr id="11" name="diapo-13-24b638a783">
            <a:hlinkClick r:id="" action="ppaction://media"/>
            <a:extLst>
              <a:ext uri="{FF2B5EF4-FFF2-40B4-BE49-F238E27FC236}">
                <a16:creationId xmlns:a16="http://schemas.microsoft.com/office/drawing/2014/main" id="{A9881D35-346D-A592-6937-108AF2D35F9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300"/>
    </mc:Choice>
    <mc:Fallback>
      <p:transition spd="slow" advTm="5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1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الذي يتغيّر بالنسبة للفرق</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مساحة الوكيل التجاري</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لكل مستشار مساحته: يعلن فيها حضوره، ويستقبل طلبات الزوّار الذين وجّهتهم المضيفة، ويجد فيها الرسائل الصوتية والمكتوبة التي تُركت في غيابه، ويمكنه أن يركّب بنفسه جولة 360° انطلاقًا من صوره، دون تثبيت أي برنامج.</a:t>
            </a:r>
          </a:p>
        </p:txBody>
      </p:sp>
      <p:pic>
        <p:nvPicPr>
          <p:cNvPr id="7" name="Picture 6" descr="f7f76697c0c41d975920a4c6e98be806e0a20b07.jpg"/>
          <p:cNvPicPr>
            <a:picLocks noChangeAspect="1"/>
          </p:cNvPicPr>
          <p:nvPr/>
        </p:nvPicPr>
        <p:blipFill>
          <a:blip r:embed="rId5"/>
          <a:stretch>
            <a:fillRect/>
          </a:stretch>
        </p:blipFill>
        <p:spPr>
          <a:xfrm>
            <a:off x="777240" y="1316450"/>
            <a:ext cx="5516575" cy="3447859"/>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مساحة الوكيل بالعربية: منذ غشت 2026، صارت واجهة العمل مترجمة إلى اللغات الأربع، بما في ذلك اتجاه الكتابة.</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14</a:t>
            </a:r>
          </a:p>
        </p:txBody>
      </p:sp>
      <p:pic>
        <p:nvPicPr>
          <p:cNvPr id="11" name="diapo-14-b8ef3a2207">
            <a:hlinkClick r:id="" action="ppaction://media"/>
            <a:extLst>
              <a:ext uri="{FF2B5EF4-FFF2-40B4-BE49-F238E27FC236}">
                <a16:creationId xmlns:a16="http://schemas.microsoft.com/office/drawing/2014/main" id="{1898190E-01D1-811C-8430-5FAAB57ED7D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00"/>
    </mc:Choice>
    <mc:Fallback>
      <p:transition spd="slow" advTm="4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الذي يتغيّر بالنسبة للفرق</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لوحة الإدارة</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كل ما يراه الزبون يُدار من لوحة إدارة، دون المساس بالبرمجة: المشاريع وأوصافها باللغات الأربع، والصور، والفيديوهات، وجولات 360°، ونقاط الاهتمام، والمناطق القابلة للنقر في المخطّطات، وبطاقات الزبناء، وحسابات المستشارين.</a:t>
            </a:r>
          </a:p>
          <a:p>
            <a:pPr algn="r" rtl="1">
              <a:lnSpc>
                <a:spcPct val="142000"/>
              </a:lnSpc>
              <a:spcBef>
                <a:spcPts val="1200"/>
              </a:spcBef>
            </a:pPr>
            <a:r>
              <a:rPr sz="1500" b="0" i="0">
                <a:solidFill>
                  <a:srgbClr val="16211C"/>
                </a:solidFill>
                <a:latin typeface="Arial"/>
                <a:cs typeface="Arial"/>
              </a:rPr>
              <a:t>ويُستورد جدول الوحدات من ملف Excel الخاص بالمنعش؛ ويتمّ تغيير الحالة بنقرة واحدة تظهر فورًا على الموقع. تحديث التوفّر يستغرق ثوانٍ، لا مكالمة مع مزوّد خدمة.</a:t>
            </a:r>
          </a:p>
        </p:txBody>
      </p:sp>
      <p:pic>
        <p:nvPicPr>
          <p:cNvPr id="7" name="Picture 6" descr="6cc87c0fb237a60d2f391c4f8e3f4d8247ccd327.jpg"/>
          <p:cNvPicPr>
            <a:picLocks noChangeAspect="1"/>
          </p:cNvPicPr>
          <p:nvPr/>
        </p:nvPicPr>
        <p:blipFill>
          <a:blip r:embed="rId5"/>
          <a:stretch>
            <a:fillRect/>
          </a:stretch>
        </p:blipFill>
        <p:spPr>
          <a:xfrm>
            <a:off x="777240" y="1124903"/>
            <a:ext cx="5516575" cy="3830954"/>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جدول التسويق داخل لوحة الإدارة، بالعربية: 130 وحدة، والحالات والأثمنة قابلة للتعديل بنقرة.</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15</a:t>
            </a:r>
          </a:p>
        </p:txBody>
      </p:sp>
      <p:pic>
        <p:nvPicPr>
          <p:cNvPr id="11" name="diapo-15-02ea12d00e">
            <a:hlinkClick r:id="" action="ppaction://media"/>
            <a:extLst>
              <a:ext uri="{FF2B5EF4-FFF2-40B4-BE49-F238E27FC236}">
                <a16:creationId xmlns:a16="http://schemas.microsoft.com/office/drawing/2014/main" id="{29F86DA5-7177-6BA1-B20B-879DF3A9056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000"/>
    </mc:Choice>
    <mc:Fallback>
      <p:transition spd="slow" advTm="5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7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الذي يتغيّر بالنسبة للفرق</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بطاقة الزبون</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المطبوع الورقي يصير شاشة. يصوّر المستشار ظهر البطاقة الوطنية، فتُملأ الاسم والنسب والرقم وتاريخ الصلاحية تلقائيًّا. وتصل البطاقة مرتبطة بالشقق التي اختارها الزبون، أمّا وثائق الهوية فتُحفَظ خارج الموقع، في خزنة خاصة على الخادم.</a:t>
            </a:r>
          </a:p>
        </p:txBody>
      </p:sp>
      <p:pic>
        <p:nvPicPr>
          <p:cNvPr id="7" name="Picture 6" descr="ca8fab2edf635b8df2374f1ad19ff2f521400b03.jpg"/>
          <p:cNvPicPr>
            <a:picLocks noChangeAspect="1"/>
          </p:cNvPicPr>
          <p:nvPr/>
        </p:nvPicPr>
        <p:blipFill>
          <a:blip r:embed="rId5"/>
          <a:stretch>
            <a:fillRect/>
          </a:stretch>
        </p:blipFill>
        <p:spPr>
          <a:xfrm>
            <a:off x="777240" y="933355"/>
            <a:ext cx="5516575" cy="4214050"/>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بطاقة المعلومات، بالفرنسية والعربية، مع القراءة التلقائية للبطاقة الوطنية.</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16</a:t>
            </a:r>
          </a:p>
        </p:txBody>
      </p:sp>
      <p:pic>
        <p:nvPicPr>
          <p:cNvPr id="11" name="diapo-16-bbc21369b2">
            <a:hlinkClick r:id="" action="ppaction://media"/>
            <a:extLst>
              <a:ext uri="{FF2B5EF4-FFF2-40B4-BE49-F238E27FC236}">
                <a16:creationId xmlns:a16="http://schemas.microsoft.com/office/drawing/2014/main" id="{5677E62B-4DFB-7C1C-D7D3-BFD8FC42325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800"/>
    </mc:Choice>
    <mc:Fallback>
      <p:transition spd="slow" advTm="34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5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40280" y="685800"/>
            <a:ext cx="917417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الشاشات اللمسية في الوكالات</a:t>
            </a:r>
          </a:p>
        </p:txBody>
      </p:sp>
      <p:sp>
        <p:nvSpPr>
          <p:cNvPr id="4" name="Rectangle 3"/>
          <p:cNvSpPr/>
          <p:nvPr/>
        </p:nvSpPr>
        <p:spPr>
          <a:xfrm>
            <a:off x="10408615"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40280" y="1655064"/>
            <a:ext cx="9174175" cy="4288536"/>
          </a:xfrm>
          <a:prstGeom prst="rect">
            <a:avLst/>
          </a:prstGeom>
          <a:noFill/>
        </p:spPr>
        <p:txBody>
          <a:bodyPr wrap="square" lIns="0" tIns="0" rIns="0" bIns="0">
            <a:spAutoFit/>
          </a:bodyPr>
          <a:lstStyle/>
          <a:p>
            <a:pPr algn="r" rtl="1">
              <a:lnSpc>
                <a:spcPct val="142000"/>
              </a:lnSpc>
            </a:pPr>
            <a:r>
              <a:rPr sz="1600" b="0" i="0">
                <a:solidFill>
                  <a:srgbClr val="16211C"/>
                </a:solidFill>
                <a:latin typeface="Arial"/>
                <a:cs typeface="Arial"/>
              </a:rPr>
              <a:t>كل ما سبق يشتغل اليوم على الهاتف وعلى الحاسوب. أمّا الشاشة اللمسية فتضيف ما لا تمنحه شاشة شخصية: شخصان واقفان أمام المخطّط نفسه، بحجمه الحقيقي، داخل الوكالة.</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17</a:t>
            </a:r>
          </a:p>
        </p:txBody>
      </p:sp>
      <p:pic>
        <p:nvPicPr>
          <p:cNvPr id="8" name="diapo-17-ce233e9bfa">
            <a:hlinkClick r:id="" action="ppaction://media"/>
            <a:extLst>
              <a:ext uri="{FF2B5EF4-FFF2-40B4-BE49-F238E27FC236}">
                <a16:creationId xmlns:a16="http://schemas.microsoft.com/office/drawing/2014/main" id="{4A59ADFF-08BC-15C4-9890-4D8AD0DD65F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500"/>
    </mc:Choice>
    <mc:Fallback>
      <p:transition spd="slow" advTm="1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3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الشاشات اللمسية في الوكالات</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ما الذي تضيفه الشاشة</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الزبون يتصرّف في المخطّط بنفسه، والمستشار يشرح إلى جانبه، عوض أن يدير له شاشة حاسوب.</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خريطة الحيّ تُستعرض بالإصبع، والمدرسة يُشار إليها، والمسافة تظهر.</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الجولة 360° تملأ الشاشة كلّها: ننظر إلى الشقة، لا إلى كتيّب.</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تُختار الشقة في المكان، بحالتها الحقيقية، وتُملأ بطاقة الزبون في الأثر بقراءة البطاقة الوطنية.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الانتظار في الاستقبال يصير وقتًا مفيدًا: يستكشف الزائر بنفسه ريثما ينهي المستشار موعدًا آخر.</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18</a:t>
            </a:r>
          </a:p>
        </p:txBody>
      </p:sp>
      <p:pic>
        <p:nvPicPr>
          <p:cNvPr id="9" name="diapo-18-83d1d8fdb1">
            <a:hlinkClick r:id="" action="ppaction://media"/>
            <a:extLst>
              <a:ext uri="{FF2B5EF4-FFF2-40B4-BE49-F238E27FC236}">
                <a16:creationId xmlns:a16="http://schemas.microsoft.com/office/drawing/2014/main" id="{588848FD-9F53-E8D6-B002-FD4DAD40C60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000"/>
    </mc:Choice>
    <mc:Fallback>
      <p:transition spd="slow" advTm="4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7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33895" y="685800"/>
            <a:ext cx="4480560"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الشاشات اللمسية في الوكالات</a:t>
            </a:r>
          </a:p>
        </p:txBody>
      </p:sp>
      <p:sp>
        <p:nvSpPr>
          <p:cNvPr id="4" name="TextBox 3"/>
          <p:cNvSpPr txBox="1"/>
          <p:nvPr/>
        </p:nvSpPr>
        <p:spPr>
          <a:xfrm>
            <a:off x="6933895" y="1106424"/>
            <a:ext cx="4480560"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ما الذي تعوّضه</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3895" y="2075688"/>
            <a:ext cx="4480560" cy="3867912"/>
          </a:xfrm>
          <a:prstGeom prst="rect">
            <a:avLst/>
          </a:prstGeom>
          <a:noFill/>
        </p:spPr>
        <p:txBody>
          <a:bodyPr wrap="square" lIns="0" tIns="0" rIns="0" bIns="0">
            <a:spAutoFit/>
          </a:bodyPr>
          <a:lstStyle/>
          <a:p>
            <a:pPr algn="r" rtl="1">
              <a:lnSpc>
                <a:spcPct val="142000"/>
              </a:lnSpc>
            </a:pPr>
            <a:r>
              <a:rPr sz="1500" b="0" i="0">
                <a:solidFill>
                  <a:srgbClr val="16211C"/>
                </a:solidFill>
                <a:latin typeface="Arial"/>
                <a:cs typeface="Arial"/>
              </a:rPr>
              <a:t>الكتيّبات المطبوعة التي تتقادم، والمخطّطات الورقية المعلَّمة بالقلم، ولوحة التوفّر التي تُصحَّح باليد، والعبارة التي سمعها كل مشترٍ: «سأعاود الاتصال بك بلائحة المتوفّر».</a:t>
            </a:r>
          </a:p>
        </p:txBody>
      </p:sp>
      <p:pic>
        <p:nvPicPr>
          <p:cNvPr id="7" name="Picture 6" descr="246197b459c9075f42c60ca07aa488d72b5e6020.jpg"/>
          <p:cNvPicPr>
            <a:picLocks noChangeAspect="1"/>
          </p:cNvPicPr>
          <p:nvPr/>
        </p:nvPicPr>
        <p:blipFill>
          <a:blip r:embed="rId5"/>
          <a:stretch>
            <a:fillRect/>
          </a:stretch>
        </p:blipFill>
        <p:spPr>
          <a:xfrm>
            <a:off x="777240" y="1488843"/>
            <a:ext cx="5516575" cy="3103073"/>
          </a:xfrm>
          <a:prstGeom prst="rect">
            <a:avLst/>
          </a:prstGeom>
          <a:ln w="9525">
            <a:solidFill>
              <a:srgbClr val="E2DCD2"/>
            </a:solidFill>
          </a:ln>
        </p:spPr>
      </p:pic>
      <p:sp>
        <p:nvSpPr>
          <p:cNvPr id="8" name="TextBox 7"/>
          <p:cNvSpPr txBox="1"/>
          <p:nvPr/>
        </p:nvSpPr>
        <p:spPr>
          <a:xfrm>
            <a:off x="777240" y="5413248"/>
            <a:ext cx="5516575" cy="822960"/>
          </a:xfrm>
          <a:prstGeom prst="rect">
            <a:avLst/>
          </a:prstGeom>
          <a:noFill/>
        </p:spPr>
        <p:txBody>
          <a:bodyPr wrap="square" lIns="0" tIns="0" rIns="0" bIns="0">
            <a:spAutoFit/>
          </a:bodyPr>
          <a:lstStyle/>
          <a:p>
            <a:pPr algn="r" rtl="1">
              <a:lnSpc>
                <a:spcPct val="125000"/>
              </a:lnSpc>
            </a:pPr>
            <a:r>
              <a:rPr sz="1050" b="0" i="0">
                <a:solidFill>
                  <a:srgbClr val="6D766F"/>
                </a:solidFill>
                <a:latin typeface="Arial"/>
                <a:cs typeface="Arial"/>
              </a:rPr>
              <a:t>شاشة في استقبال كل وكالة، وطاولة لمسية في مكتب البيع الرئيسي: الموقع نفسه، بحجم أكبر.</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19</a:t>
            </a:r>
          </a:p>
        </p:txBody>
      </p:sp>
      <p:pic>
        <p:nvPicPr>
          <p:cNvPr id="11" name="diapo-19-00c2d9072d">
            <a:hlinkClick r:id="" action="ppaction://media"/>
            <a:extLst>
              <a:ext uri="{FF2B5EF4-FFF2-40B4-BE49-F238E27FC236}">
                <a16:creationId xmlns:a16="http://schemas.microsoft.com/office/drawing/2014/main" id="{DA07D98C-42B0-5F35-860B-D5E203B5351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200"/>
    </mc:Choice>
    <mc:Fallback>
      <p:transition spd="slow" advTm="31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0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الشاشات اللمسية في الوكالات</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ما ينبغي توفيره</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شاشة لمسية من 43 إلى 55 بوصة بحاسوب مدمج، أو طاولة لمسية لمكتب البيع الرئيسي.</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متصفّح مفتوح في وضع الكشك على narjiss.company: دون أي تثبيت، ودون برنامج خاص، ودون صيانة برمجية.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اتصال بالإنترنت ونقطة كهربائية. والموقع مصمَّم أصلًا للّمس: أهداف واسعة، ولا إجراء يعتمد على مرور المؤشّر، وتباين مقروء من مسافة مترين.</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أمّا ثمن العتاد فيُطلب في عروض أثمنة من موردين محلّيين؛ ولن نذكر هنا أي رقم لم نتحقّق منه.</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20</a:t>
            </a:r>
          </a:p>
        </p:txBody>
      </p:sp>
      <p:pic>
        <p:nvPicPr>
          <p:cNvPr id="9" name="diapo-20-822202fcac">
            <a:hlinkClick r:id="" action="ppaction://media"/>
            <a:extLst>
              <a:ext uri="{FF2B5EF4-FFF2-40B4-BE49-F238E27FC236}">
                <a16:creationId xmlns:a16="http://schemas.microsoft.com/office/drawing/2014/main" id="{4DC84E23-6101-3A3A-0D58-C4C2664B949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00"/>
    </mc:Choice>
    <mc:Fallback>
      <p:transition spd="slow" advTm="4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5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1063721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مقارنة صادقة</a:t>
            </a:r>
          </a:p>
        </p:txBody>
      </p:sp>
      <p:sp>
        <p:nvSpPr>
          <p:cNvPr id="4" name="Rectangle 3"/>
          <p:cNvSpPr/>
          <p:nvPr/>
        </p:nvSpPr>
        <p:spPr>
          <a:xfrm>
            <a:off x="10408615"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55064"/>
            <a:ext cx="10637215" cy="365760"/>
          </a:xfrm>
          <a:prstGeom prst="rect">
            <a:avLst/>
          </a:prstGeom>
          <a:noFill/>
        </p:spPr>
        <p:txBody>
          <a:bodyPr wrap="square" lIns="0" tIns="0" rIns="0" bIns="0">
            <a:spAutoFit/>
          </a:bodyPr>
          <a:lstStyle/>
          <a:p>
            <a:pPr algn="r" rtl="1">
              <a:lnSpc>
                <a:spcPct val="115000"/>
              </a:lnSpc>
            </a:pPr>
            <a:r>
              <a:rPr sz="1300" b="0" i="0">
                <a:solidFill>
                  <a:srgbClr val="6D766F"/>
                </a:solidFill>
                <a:latin typeface="Arial"/>
                <a:cs typeface="Arial"/>
              </a:rPr>
              <a:t>ثلاث قنوات، وثلاثة أدوار. لا يقول الجدول إنّه ينبغي التخلّي عن الأوّلَين، بل يبيّن أين تتوقّف كلّ واحدة منها.</a:t>
            </a:r>
          </a:p>
        </p:txBody>
      </p:sp>
      <p:graphicFrame>
        <p:nvGraphicFramePr>
          <p:cNvPr id="6" name="Table 5"/>
          <p:cNvGraphicFramePr>
            <a:graphicFrameLocks noGrp="1"/>
          </p:cNvGraphicFramePr>
          <p:nvPr/>
        </p:nvGraphicFramePr>
        <p:xfrm>
          <a:off x="777240" y="2157984"/>
          <a:ext cx="10637214" cy="3877056"/>
        </p:xfrm>
        <a:graphic>
          <a:graphicData uri="http://schemas.openxmlformats.org/drawingml/2006/table">
            <a:tbl>
              <a:tblPr>
                <a:tableStyleId>{5C22544A-7EE6-4342-B048-85BDC9FD1C3A}</a:tableStyleId>
              </a:tblPr>
              <a:tblGrid>
                <a:gridCol w="2570378">
                  <a:extLst>
                    <a:ext uri="{9D8B030D-6E8A-4147-A177-3AD203B41FA5}">
                      <a16:colId xmlns:a16="http://schemas.microsoft.com/office/drawing/2014/main" val="20000"/>
                    </a:ext>
                  </a:extLst>
                </a:gridCol>
                <a:gridCol w="2570378">
                  <a:extLst>
                    <a:ext uri="{9D8B030D-6E8A-4147-A177-3AD203B41FA5}">
                      <a16:colId xmlns:a16="http://schemas.microsoft.com/office/drawing/2014/main" val="20001"/>
                    </a:ext>
                  </a:extLst>
                </a:gridCol>
                <a:gridCol w="2570378">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298235">
                <a:tc>
                  <a:txBody>
                    <a:bodyPr/>
                    <a:lstStyle/>
                    <a:p>
                      <a:pPr algn="r" rtl="1"/>
                      <a:r>
                        <a:rPr sz="1150" b="1">
                          <a:solidFill>
                            <a:srgbClr val="FFFFFF"/>
                          </a:solidFill>
                          <a:latin typeface="Arial"/>
                        </a:rPr>
                        <a:t>narjiss.company</a:t>
                      </a:r>
                    </a:p>
                  </a:txBody>
                  <a:tcPr marL="82296" marR="82296" anchor="ctr">
                    <a:solidFill>
                      <a:srgbClr val="16211C"/>
                    </a:solidFill>
                  </a:tcPr>
                </a:tc>
                <a:tc>
                  <a:txBody>
                    <a:bodyPr/>
                    <a:lstStyle/>
                    <a:p>
                      <a:pPr algn="r" rtl="1"/>
                      <a:r>
                        <a:rPr sz="1150" b="1">
                          <a:solidFill>
                            <a:srgbClr val="FFFFFF"/>
                          </a:solidFill>
                          <a:latin typeface="Arial"/>
                        </a:rPr>
                        <a:t>منشورات فيسبوك</a:t>
                      </a:r>
                    </a:p>
                  </a:txBody>
                  <a:tcPr marL="82296" marR="82296" anchor="ctr">
                    <a:solidFill>
                      <a:srgbClr val="16211C"/>
                    </a:solidFill>
                  </a:tcPr>
                </a:tc>
                <a:tc>
                  <a:txBody>
                    <a:bodyPr/>
                    <a:lstStyle/>
                    <a:p>
                      <a:pPr algn="r" rtl="1"/>
                      <a:r>
                        <a:rPr sz="1150" b="1">
                          <a:solidFill>
                            <a:srgbClr val="FFFFFF"/>
                          </a:solidFill>
                          <a:latin typeface="Arial"/>
                        </a:rPr>
                        <a:t>الموقع الحالي (واجهة)</a:t>
                      </a:r>
                    </a:p>
                  </a:txBody>
                  <a:tcPr marL="82296" marR="82296" anchor="ctr">
                    <a:solidFill>
                      <a:srgbClr val="16211C"/>
                    </a:solidFill>
                  </a:tcPr>
                </a:tc>
                <a:tc>
                  <a:txBody>
                    <a:bodyPr/>
                    <a:lstStyle/>
                    <a:p>
                      <a:pPr algn="r" rtl="1"/>
                      <a:endParaRPr/>
                    </a:p>
                  </a:txBody>
                  <a:tcPr marL="82296" marR="82296" anchor="ctr">
                    <a:solidFill>
                      <a:srgbClr val="16211C"/>
                    </a:solidFill>
                  </a:tcPr>
                </a:tc>
                <a:extLst>
                  <a:ext uri="{0D108BD9-81ED-4DB2-BD59-A6C34878D82A}">
                    <a16:rowId xmlns:a16="http://schemas.microsoft.com/office/drawing/2014/main" val="10000"/>
                  </a:ext>
                </a:extLst>
              </a:tr>
              <a:tr h="298235">
                <a:tc>
                  <a:txBody>
                    <a:bodyPr/>
                    <a:lstStyle/>
                    <a:p>
                      <a:pPr algn="r" rtl="1"/>
                      <a:r>
                        <a:rPr sz="1050" b="0">
                          <a:solidFill>
                            <a:srgbClr val="BD6B16"/>
                          </a:solidFill>
                          <a:latin typeface="Arial"/>
                        </a:rPr>
                        <a:t>نعم</a:t>
                      </a:r>
                    </a:p>
                  </a:txBody>
                  <a:tcPr marL="82296" marR="82296" marT="27432" marB="27432" anchor="ctr">
                    <a:solidFill>
                      <a:srgbClr val="FAF7F2"/>
                    </a:solidFill>
                  </a:tcPr>
                </a:tc>
                <a:tc>
                  <a:txBody>
                    <a:bodyPr/>
                    <a:lstStyle/>
                    <a:p>
                      <a:pPr algn="r" rtl="1"/>
                      <a:r>
                        <a:rPr sz="1050" b="0">
                          <a:solidFill>
                            <a:srgbClr val="16211C"/>
                          </a:solidFill>
                          <a:latin typeface="Arial"/>
                        </a:rPr>
                        <a:t>نعم</a:t>
                      </a:r>
                    </a:p>
                  </a:txBody>
                  <a:tcPr marL="82296" marR="82296" marT="27432" marB="27432" anchor="ctr">
                    <a:solidFill>
                      <a:srgbClr val="FAF7F2"/>
                    </a:solidFill>
                  </a:tcPr>
                </a:tc>
                <a:tc>
                  <a:txBody>
                    <a:bodyPr/>
                    <a:lstStyle/>
                    <a:p>
                      <a:pPr algn="r" rtl="1"/>
                      <a:r>
                        <a:rPr sz="1050" b="0">
                          <a:solidFill>
                            <a:srgbClr val="16211C"/>
                          </a:solidFill>
                          <a:latin typeface="Arial"/>
                        </a:rPr>
                        <a:t>نعم</a:t>
                      </a:r>
                    </a:p>
                  </a:txBody>
                  <a:tcPr marL="82296" marR="82296" marT="27432" marB="27432" anchor="ctr">
                    <a:solidFill>
                      <a:srgbClr val="FAF7F2"/>
                    </a:solidFill>
                  </a:tcPr>
                </a:tc>
                <a:tc>
                  <a:txBody>
                    <a:bodyPr/>
                    <a:lstStyle/>
                    <a:p>
                      <a:pPr algn="r" rtl="1"/>
                      <a:r>
                        <a:rPr sz="1050" b="1">
                          <a:solidFill>
                            <a:srgbClr val="16211C"/>
                          </a:solidFill>
                          <a:latin typeface="Arial"/>
                        </a:rPr>
                        <a:t>التعريف بالشركة</a:t>
                      </a:r>
                    </a:p>
                  </a:txBody>
                  <a:tcPr marL="82296" marR="82296" marT="27432" marB="27432" anchor="ctr">
                    <a:solidFill>
                      <a:srgbClr val="FAF7F2"/>
                    </a:solidFill>
                  </a:tcPr>
                </a:tc>
                <a:extLst>
                  <a:ext uri="{0D108BD9-81ED-4DB2-BD59-A6C34878D82A}">
                    <a16:rowId xmlns:a16="http://schemas.microsoft.com/office/drawing/2014/main" val="10001"/>
                  </a:ext>
                </a:extLst>
              </a:tr>
              <a:tr h="298235">
                <a:tc>
                  <a:txBody>
                    <a:bodyPr/>
                    <a:lstStyle/>
                    <a:p>
                      <a:pPr algn="r" rtl="1"/>
                      <a:r>
                        <a:rPr sz="1050" b="0">
                          <a:solidFill>
                            <a:srgbClr val="BD6B16"/>
                          </a:solidFill>
                          <a:latin typeface="Arial"/>
                        </a:rPr>
                        <a:t>نعم، عبر محرّكات البحث</a:t>
                      </a:r>
                    </a:p>
                  </a:txBody>
                  <a:tcPr marL="82296" marR="82296" marT="27432" marB="27432" anchor="ctr">
                    <a:solidFill>
                      <a:srgbClr val="FFFFFF"/>
                    </a:solidFill>
                  </a:tcPr>
                </a:tc>
                <a:tc>
                  <a:txBody>
                    <a:bodyPr/>
                    <a:lstStyle/>
                    <a:p>
                      <a:pPr algn="r" rtl="1"/>
                      <a:r>
                        <a:rPr sz="1050" b="0">
                          <a:solidFill>
                            <a:srgbClr val="16211C"/>
                          </a:solidFill>
                          <a:latin typeface="Arial"/>
                        </a:rPr>
                        <a:t>نعم، وهذه قوّته</a:t>
                      </a:r>
                    </a:p>
                  </a:txBody>
                  <a:tcPr marL="82296" marR="82296" marT="27432" marB="27432" anchor="ctr">
                    <a:solidFill>
                      <a:srgbClr val="FFFFFF"/>
                    </a:solidFill>
                  </a:tcPr>
                </a:tc>
                <a:tc>
                  <a:txBody>
                    <a:bodyPr/>
                    <a:lstStyle/>
                    <a:p>
                      <a:pPr algn="r" rtl="1"/>
                      <a:r>
                        <a:rPr sz="1050" b="0">
                          <a:solidFill>
                            <a:srgbClr val="16211C"/>
                          </a:solidFill>
                          <a:latin typeface="Arial"/>
                        </a:rPr>
                        <a:t>قليلًا</a:t>
                      </a:r>
                    </a:p>
                  </a:txBody>
                  <a:tcPr marL="82296" marR="82296" marT="27432" marB="27432" anchor="ctr">
                    <a:solidFill>
                      <a:srgbClr val="FFFFFF"/>
                    </a:solidFill>
                  </a:tcPr>
                </a:tc>
                <a:tc>
                  <a:txBody>
                    <a:bodyPr/>
                    <a:lstStyle/>
                    <a:p>
                      <a:pPr algn="r" rtl="1"/>
                      <a:r>
                        <a:rPr sz="1050" b="1">
                          <a:solidFill>
                            <a:srgbClr val="16211C"/>
                          </a:solidFill>
                          <a:latin typeface="Arial"/>
                        </a:rPr>
                        <a:t>جلب الجمهور</a:t>
                      </a:r>
                    </a:p>
                  </a:txBody>
                  <a:tcPr marL="82296" marR="82296" marT="27432" marB="27432" anchor="ctr">
                    <a:solidFill>
                      <a:srgbClr val="FFFFFF"/>
                    </a:solidFill>
                  </a:tcPr>
                </a:tc>
                <a:extLst>
                  <a:ext uri="{0D108BD9-81ED-4DB2-BD59-A6C34878D82A}">
                    <a16:rowId xmlns:a16="http://schemas.microsoft.com/office/drawing/2014/main" val="10002"/>
                  </a:ext>
                </a:extLst>
              </a:tr>
              <a:tr h="298235">
                <a:tc>
                  <a:txBody>
                    <a:bodyPr/>
                    <a:lstStyle/>
                    <a:p>
                      <a:pPr algn="r" rtl="1"/>
                      <a:r>
                        <a:rPr sz="1050" b="0">
                          <a:solidFill>
                            <a:srgbClr val="BD6B16"/>
                          </a:solidFill>
                          <a:latin typeface="Arial"/>
                        </a:rPr>
                        <a:t>نعم — 454 وحدة متابَعة</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1">
                          <a:solidFill>
                            <a:srgbClr val="16211C"/>
                          </a:solidFill>
                          <a:latin typeface="Arial"/>
                        </a:rPr>
                        <a:t>التوفّر لحظة بلحظة</a:t>
                      </a:r>
                    </a:p>
                  </a:txBody>
                  <a:tcPr marL="82296" marR="82296" marT="27432" marB="27432" anchor="ctr">
                    <a:solidFill>
                      <a:srgbClr val="FAF7F2"/>
                    </a:solidFill>
                  </a:tcPr>
                </a:tc>
                <a:extLst>
                  <a:ext uri="{0D108BD9-81ED-4DB2-BD59-A6C34878D82A}">
                    <a16:rowId xmlns:a16="http://schemas.microsoft.com/office/drawing/2014/main" val="10003"/>
                  </a:ext>
                </a:extLst>
              </a:tr>
              <a:tr h="298235">
                <a:tc>
                  <a:txBody>
                    <a:bodyPr/>
                    <a:lstStyle/>
                    <a:p>
                      <a:pPr algn="r" rtl="1"/>
                      <a:r>
                        <a:rPr sz="1050" b="0">
                          <a:solidFill>
                            <a:srgbClr val="BD6B16"/>
                          </a:solidFill>
                          <a:latin typeface="Arial"/>
                        </a:rPr>
                        <a:t>نعم، أو «الثمن عند الطلب» حسب الاختيار</a:t>
                      </a:r>
                    </a:p>
                  </a:txBody>
                  <a:tcPr marL="82296" marR="82296" marT="27432" marB="27432" anchor="ctr">
                    <a:solidFill>
                      <a:srgbClr val="FFFFFF"/>
                    </a:solidFill>
                  </a:tcPr>
                </a:tc>
                <a:tc>
                  <a:txBody>
                    <a:bodyPr/>
                    <a:lstStyle/>
                    <a:p>
                      <a:pPr algn="r" rtl="1"/>
                      <a:r>
                        <a:rPr sz="1050" b="0">
                          <a:solidFill>
                            <a:srgbClr val="16211C"/>
                          </a:solidFill>
                          <a:latin typeface="Arial"/>
                        </a:rPr>
                        <a:t>لا</a:t>
                      </a:r>
                    </a:p>
                  </a:txBody>
                  <a:tcPr marL="82296" marR="82296" marT="27432" marB="27432" anchor="ctr">
                    <a:solidFill>
                      <a:srgbClr val="FFFFFF"/>
                    </a:solidFill>
                  </a:tcPr>
                </a:tc>
                <a:tc>
                  <a:txBody>
                    <a:bodyPr/>
                    <a:lstStyle/>
                    <a:p>
                      <a:pPr algn="r" rtl="1"/>
                      <a:r>
                        <a:rPr sz="1050" b="0">
                          <a:solidFill>
                            <a:srgbClr val="16211C"/>
                          </a:solidFill>
                          <a:latin typeface="Arial"/>
                        </a:rPr>
                        <a:t>لا</a:t>
                      </a:r>
                    </a:p>
                  </a:txBody>
                  <a:tcPr marL="82296" marR="82296" marT="27432" marB="27432" anchor="ctr">
                    <a:solidFill>
                      <a:srgbClr val="FFFFFF"/>
                    </a:solidFill>
                  </a:tcPr>
                </a:tc>
                <a:tc>
                  <a:txBody>
                    <a:bodyPr/>
                    <a:lstStyle/>
                    <a:p>
                      <a:pPr algn="r" rtl="1"/>
                      <a:r>
                        <a:rPr sz="1050" b="1">
                          <a:solidFill>
                            <a:srgbClr val="16211C"/>
                          </a:solidFill>
                          <a:latin typeface="Arial"/>
                        </a:rPr>
                        <a:t>الأثمنة والمساحات لكل وحدة</a:t>
                      </a:r>
                    </a:p>
                  </a:txBody>
                  <a:tcPr marL="82296" marR="82296" marT="27432" marB="27432" anchor="ctr">
                    <a:solidFill>
                      <a:srgbClr val="FFFFFF"/>
                    </a:solidFill>
                  </a:tcPr>
                </a:tc>
                <a:extLst>
                  <a:ext uri="{0D108BD9-81ED-4DB2-BD59-A6C34878D82A}">
                    <a16:rowId xmlns:a16="http://schemas.microsoft.com/office/drawing/2014/main" val="10004"/>
                  </a:ext>
                </a:extLst>
              </a:tr>
              <a:tr h="298235">
                <a:tc>
                  <a:txBody>
                    <a:bodyPr/>
                    <a:lstStyle/>
                    <a:p>
                      <a:pPr algn="r" rtl="1"/>
                      <a:r>
                        <a:rPr sz="1050" b="0">
                          <a:solidFill>
                            <a:srgbClr val="BD6B16"/>
                          </a:solidFill>
                          <a:latin typeface="Arial"/>
                        </a:rPr>
                        <a:t>نعم — 900 مرفق على الخريطة</a:t>
                      </a:r>
                    </a:p>
                  </a:txBody>
                  <a:tcPr marL="82296" marR="82296" marT="27432" marB="27432" anchor="ctr">
                    <a:solidFill>
                      <a:srgbClr val="FAF7F2"/>
                    </a:solidFill>
                  </a:tcPr>
                </a:tc>
                <a:tc>
                  <a:txBody>
                    <a:bodyPr/>
                    <a:lstStyle/>
                    <a:p>
                      <a:pPr algn="r" rtl="1"/>
                      <a:r>
                        <a:rPr sz="1050" b="0">
                          <a:solidFill>
                            <a:srgbClr val="16211C"/>
                          </a:solidFill>
                          <a:latin typeface="Arial"/>
                        </a:rPr>
                        <a:t>يُقال دون إثبات</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1">
                          <a:solidFill>
                            <a:srgbClr val="16211C"/>
                          </a:solidFill>
                          <a:latin typeface="Arial"/>
                        </a:rPr>
                        <a:t>إثبات محيط المشروع</a:t>
                      </a:r>
                    </a:p>
                  </a:txBody>
                  <a:tcPr marL="82296" marR="82296" marT="27432" marB="27432" anchor="ctr">
                    <a:solidFill>
                      <a:srgbClr val="FAF7F2"/>
                    </a:solidFill>
                  </a:tcPr>
                </a:tc>
                <a:extLst>
                  <a:ext uri="{0D108BD9-81ED-4DB2-BD59-A6C34878D82A}">
                    <a16:rowId xmlns:a16="http://schemas.microsoft.com/office/drawing/2014/main" val="10005"/>
                  </a:ext>
                </a:extLst>
              </a:tr>
              <a:tr h="298235">
                <a:tc>
                  <a:txBody>
                    <a:bodyPr/>
                    <a:lstStyle/>
                    <a:p>
                      <a:pPr algn="r" rtl="1"/>
                      <a:r>
                        <a:rPr sz="1050" b="0">
                          <a:solidFill>
                            <a:srgbClr val="BD6B16"/>
                          </a:solidFill>
                          <a:latin typeface="Arial"/>
                        </a:rPr>
                        <a:t>نعم، والزائر يوجّه نظره</a:t>
                      </a:r>
                    </a:p>
                  </a:txBody>
                  <a:tcPr marL="82296" marR="82296" marT="27432" marB="27432" anchor="ctr">
                    <a:solidFill>
                      <a:srgbClr val="FFFFFF"/>
                    </a:solidFill>
                  </a:tcPr>
                </a:tc>
                <a:tc>
                  <a:txBody>
                    <a:bodyPr/>
                    <a:lstStyle/>
                    <a:p>
                      <a:pPr algn="r" rtl="1"/>
                      <a:r>
                        <a:rPr sz="1050" b="0">
                          <a:solidFill>
                            <a:srgbClr val="16211C"/>
                          </a:solidFill>
                          <a:latin typeface="Arial"/>
                        </a:rPr>
                        <a:t>فيديو في اتجاه واحد</a:t>
                      </a:r>
                    </a:p>
                  </a:txBody>
                  <a:tcPr marL="82296" marR="82296" marT="27432" marB="27432" anchor="ctr">
                    <a:solidFill>
                      <a:srgbClr val="FFFFFF"/>
                    </a:solidFill>
                  </a:tcPr>
                </a:tc>
                <a:tc>
                  <a:txBody>
                    <a:bodyPr/>
                    <a:lstStyle/>
                    <a:p>
                      <a:pPr algn="r" rtl="1"/>
                      <a:r>
                        <a:rPr sz="1050" b="0">
                          <a:solidFill>
                            <a:srgbClr val="16211C"/>
                          </a:solidFill>
                          <a:latin typeface="Arial"/>
                        </a:rPr>
                        <a:t>لا</a:t>
                      </a:r>
                    </a:p>
                  </a:txBody>
                  <a:tcPr marL="82296" marR="82296" marT="27432" marB="27432" anchor="ctr">
                    <a:solidFill>
                      <a:srgbClr val="FFFFFF"/>
                    </a:solidFill>
                  </a:tcPr>
                </a:tc>
                <a:tc>
                  <a:txBody>
                    <a:bodyPr/>
                    <a:lstStyle/>
                    <a:p>
                      <a:pPr algn="r" rtl="1"/>
                      <a:r>
                        <a:rPr sz="1050" b="1">
                          <a:solidFill>
                            <a:srgbClr val="16211C"/>
                          </a:solidFill>
                          <a:latin typeface="Arial"/>
                        </a:rPr>
                        <a:t>جولة 360°</a:t>
                      </a:r>
                    </a:p>
                  </a:txBody>
                  <a:tcPr marL="82296" marR="82296" marT="27432" marB="27432" anchor="ctr">
                    <a:solidFill>
                      <a:srgbClr val="FFFFFF"/>
                    </a:solidFill>
                  </a:tcPr>
                </a:tc>
                <a:extLst>
                  <a:ext uri="{0D108BD9-81ED-4DB2-BD59-A6C34878D82A}">
                    <a16:rowId xmlns:a16="http://schemas.microsoft.com/office/drawing/2014/main" val="10006"/>
                  </a:ext>
                </a:extLst>
              </a:tr>
              <a:tr h="298235">
                <a:tc>
                  <a:txBody>
                    <a:bodyPr/>
                    <a:lstStyle/>
                    <a:p>
                      <a:pPr algn="r" rtl="1"/>
                      <a:r>
                        <a:rPr sz="1050" b="0">
                          <a:solidFill>
                            <a:srgbClr val="BD6B16"/>
                          </a:solidFill>
                          <a:latin typeface="Arial"/>
                        </a:rPr>
                        <a:t>نعم، على مخطّط الموقع</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1">
                          <a:solidFill>
                            <a:srgbClr val="16211C"/>
                          </a:solidFill>
                          <a:latin typeface="Arial"/>
                        </a:rPr>
                        <a:t>اختيار شقة بعينها</a:t>
                      </a:r>
                    </a:p>
                  </a:txBody>
                  <a:tcPr marL="82296" marR="82296" marT="27432" marB="27432" anchor="ctr">
                    <a:solidFill>
                      <a:srgbClr val="FAF7F2"/>
                    </a:solidFill>
                  </a:tcPr>
                </a:tc>
                <a:extLst>
                  <a:ext uri="{0D108BD9-81ED-4DB2-BD59-A6C34878D82A}">
                    <a16:rowId xmlns:a16="http://schemas.microsoft.com/office/drawing/2014/main" val="10007"/>
                  </a:ext>
                </a:extLst>
              </a:tr>
              <a:tr h="298235">
                <a:tc>
                  <a:txBody>
                    <a:bodyPr/>
                    <a:lstStyle/>
                    <a:p>
                      <a:pPr algn="r" rtl="1"/>
                      <a:r>
                        <a:rPr sz="1050" b="0">
                          <a:solidFill>
                            <a:srgbClr val="BD6B16"/>
                          </a:solidFill>
                          <a:latin typeface="Arial"/>
                        </a:rPr>
                        <a:t>نعم، الموقع كلّه ولوحة الإدارة</a:t>
                      </a:r>
                    </a:p>
                  </a:txBody>
                  <a:tcPr marL="82296" marR="82296" marT="27432" marB="27432" anchor="ctr">
                    <a:solidFill>
                      <a:srgbClr val="FFFFFF"/>
                    </a:solidFill>
                  </a:tcPr>
                </a:tc>
                <a:tc>
                  <a:txBody>
                    <a:bodyPr/>
                    <a:lstStyle/>
                    <a:p>
                      <a:pPr algn="r" rtl="1"/>
                      <a:r>
                        <a:rPr sz="1050" b="0">
                          <a:solidFill>
                            <a:srgbClr val="16211C"/>
                          </a:solidFill>
                          <a:latin typeface="Arial"/>
                        </a:rPr>
                        <a:t>لغة واحدة لكل منشور</a:t>
                      </a:r>
                    </a:p>
                  </a:txBody>
                  <a:tcPr marL="82296" marR="82296" marT="27432" marB="27432" anchor="ctr">
                    <a:solidFill>
                      <a:srgbClr val="FFFFFF"/>
                    </a:solidFill>
                  </a:tcPr>
                </a:tc>
                <a:tc>
                  <a:txBody>
                    <a:bodyPr/>
                    <a:lstStyle/>
                    <a:p>
                      <a:pPr algn="r" rtl="1"/>
                      <a:r>
                        <a:rPr sz="1050" b="0">
                          <a:solidFill>
                            <a:srgbClr val="16211C"/>
                          </a:solidFill>
                          <a:latin typeface="Arial"/>
                        </a:rPr>
                        <a:t>جزئيًّا</a:t>
                      </a:r>
                    </a:p>
                  </a:txBody>
                  <a:tcPr marL="82296" marR="82296" marT="27432" marB="27432" anchor="ctr">
                    <a:solidFill>
                      <a:srgbClr val="FFFFFF"/>
                    </a:solidFill>
                  </a:tcPr>
                </a:tc>
                <a:tc>
                  <a:txBody>
                    <a:bodyPr/>
                    <a:lstStyle/>
                    <a:p>
                      <a:pPr algn="r" rtl="1"/>
                      <a:r>
                        <a:rPr sz="1050" b="1">
                          <a:solidFill>
                            <a:srgbClr val="16211C"/>
                          </a:solidFill>
                          <a:latin typeface="Arial"/>
                        </a:rPr>
                        <a:t>أربع لغات</a:t>
                      </a:r>
                    </a:p>
                  </a:txBody>
                  <a:tcPr marL="82296" marR="82296" marT="27432" marB="27432" anchor="ctr">
                    <a:solidFill>
                      <a:srgbClr val="FFFFFF"/>
                    </a:solidFill>
                  </a:tcPr>
                </a:tc>
                <a:extLst>
                  <a:ext uri="{0D108BD9-81ED-4DB2-BD59-A6C34878D82A}">
                    <a16:rowId xmlns:a16="http://schemas.microsoft.com/office/drawing/2014/main" val="10008"/>
                  </a:ext>
                </a:extLst>
              </a:tr>
              <a:tr h="298235">
                <a:tc>
                  <a:txBody>
                    <a:bodyPr/>
                    <a:lstStyle/>
                    <a:p>
                      <a:pPr algn="r" rtl="1"/>
                      <a:r>
                        <a:rPr sz="1050" b="0">
                          <a:solidFill>
                            <a:srgbClr val="BD6B16"/>
                          </a:solidFill>
                          <a:latin typeface="Arial"/>
                        </a:rPr>
                        <a:t>نعم، جولة مصحوبة بالصوت</a:t>
                      </a:r>
                    </a:p>
                  </a:txBody>
                  <a:tcPr marL="82296" marR="82296" marT="27432" marB="27432" anchor="ctr">
                    <a:solidFill>
                      <a:srgbClr val="FAF7F2"/>
                    </a:solidFill>
                  </a:tcPr>
                </a:tc>
                <a:tc>
                  <a:txBody>
                    <a:bodyPr/>
                    <a:lstStyle/>
                    <a:p>
                      <a:pPr algn="r" rtl="1"/>
                      <a:r>
                        <a:rPr sz="1050" b="0">
                          <a:solidFill>
                            <a:srgbClr val="16211C"/>
                          </a:solidFill>
                          <a:latin typeface="Arial"/>
                        </a:rPr>
                        <a:t>رسائل مؤجّلة</a:t>
                      </a:r>
                    </a:p>
                  </a:txBody>
                  <a:tcPr marL="82296" marR="82296" marT="27432" marB="27432" anchor="ctr">
                    <a:solidFill>
                      <a:srgbClr val="FAF7F2"/>
                    </a:solidFill>
                  </a:tcPr>
                </a:tc>
                <a:tc>
                  <a:txBody>
                    <a:bodyPr/>
                    <a:lstStyle/>
                    <a:p>
                      <a:pPr algn="r" rtl="1"/>
                      <a:r>
                        <a:rPr sz="1050" b="0">
                          <a:solidFill>
                            <a:srgbClr val="16211C"/>
                          </a:solidFill>
                          <a:latin typeface="Arial"/>
                        </a:rPr>
                        <a:t>لا</a:t>
                      </a:r>
                    </a:p>
                  </a:txBody>
                  <a:tcPr marL="82296" marR="82296" marT="27432" marB="27432" anchor="ctr">
                    <a:solidFill>
                      <a:srgbClr val="FAF7F2"/>
                    </a:solidFill>
                  </a:tcPr>
                </a:tc>
                <a:tc>
                  <a:txBody>
                    <a:bodyPr/>
                    <a:lstStyle/>
                    <a:p>
                      <a:pPr algn="r" rtl="1"/>
                      <a:r>
                        <a:rPr sz="1050" b="1">
                          <a:solidFill>
                            <a:srgbClr val="16211C"/>
                          </a:solidFill>
                          <a:latin typeface="Arial"/>
                        </a:rPr>
                        <a:t>مستشار عن بُعد</a:t>
                      </a:r>
                    </a:p>
                  </a:txBody>
                  <a:tcPr marL="82296" marR="82296" marT="27432" marB="27432" anchor="ctr">
                    <a:solidFill>
                      <a:srgbClr val="FAF7F2"/>
                    </a:solidFill>
                  </a:tcPr>
                </a:tc>
                <a:extLst>
                  <a:ext uri="{0D108BD9-81ED-4DB2-BD59-A6C34878D82A}">
                    <a16:rowId xmlns:a16="http://schemas.microsoft.com/office/drawing/2014/main" val="10009"/>
                  </a:ext>
                </a:extLst>
              </a:tr>
              <a:tr h="298235">
                <a:tc>
                  <a:txBody>
                    <a:bodyPr/>
                    <a:lstStyle/>
                    <a:p>
                      <a:pPr algn="r" rtl="1"/>
                      <a:r>
                        <a:rPr sz="1050" b="0">
                          <a:solidFill>
                            <a:srgbClr val="BD6B16"/>
                          </a:solidFill>
                          <a:latin typeface="Arial"/>
                        </a:rPr>
                        <a:t>نعم، مضيفة صوتية بخمس لغات</a:t>
                      </a:r>
                    </a:p>
                  </a:txBody>
                  <a:tcPr marL="82296" marR="82296" marT="27432" marB="27432" anchor="ctr">
                    <a:solidFill>
                      <a:srgbClr val="FFFFFF"/>
                    </a:solidFill>
                  </a:tcPr>
                </a:tc>
                <a:tc>
                  <a:txBody>
                    <a:bodyPr/>
                    <a:lstStyle/>
                    <a:p>
                      <a:pPr algn="r" rtl="1"/>
                      <a:r>
                        <a:rPr sz="1050" b="0">
                          <a:solidFill>
                            <a:srgbClr val="16211C"/>
                          </a:solidFill>
                          <a:latin typeface="Arial"/>
                        </a:rPr>
                        <a:t>لا</a:t>
                      </a:r>
                    </a:p>
                  </a:txBody>
                  <a:tcPr marL="82296" marR="82296" marT="27432" marB="27432" anchor="ctr">
                    <a:solidFill>
                      <a:srgbClr val="FFFFFF"/>
                    </a:solidFill>
                  </a:tcPr>
                </a:tc>
                <a:tc>
                  <a:txBody>
                    <a:bodyPr/>
                    <a:lstStyle/>
                    <a:p>
                      <a:pPr algn="r" rtl="1"/>
                      <a:r>
                        <a:rPr sz="1050" b="0">
                          <a:solidFill>
                            <a:srgbClr val="16211C"/>
                          </a:solidFill>
                          <a:latin typeface="Arial"/>
                        </a:rPr>
                        <a:t>لا</a:t>
                      </a:r>
                    </a:p>
                  </a:txBody>
                  <a:tcPr marL="82296" marR="82296" marT="27432" marB="27432" anchor="ctr">
                    <a:solidFill>
                      <a:srgbClr val="FFFFFF"/>
                    </a:solidFill>
                  </a:tcPr>
                </a:tc>
                <a:tc>
                  <a:txBody>
                    <a:bodyPr/>
                    <a:lstStyle/>
                    <a:p>
                      <a:pPr algn="r" rtl="1"/>
                      <a:r>
                        <a:rPr sz="1050" b="1">
                          <a:solidFill>
                            <a:srgbClr val="16211C"/>
                          </a:solidFill>
                          <a:latin typeface="Arial"/>
                        </a:rPr>
                        <a:t>خارج أوقات العمل</a:t>
                      </a:r>
                    </a:p>
                  </a:txBody>
                  <a:tcPr marL="82296" marR="82296" marT="27432" marB="27432" anchor="ctr">
                    <a:solidFill>
                      <a:srgbClr val="FFFFFF"/>
                    </a:solidFill>
                  </a:tcPr>
                </a:tc>
                <a:extLst>
                  <a:ext uri="{0D108BD9-81ED-4DB2-BD59-A6C34878D82A}">
                    <a16:rowId xmlns:a16="http://schemas.microsoft.com/office/drawing/2014/main" val="10010"/>
                  </a:ext>
                </a:extLst>
              </a:tr>
              <a:tr h="298235">
                <a:tc>
                  <a:txBody>
                    <a:bodyPr/>
                    <a:lstStyle/>
                    <a:p>
                      <a:pPr algn="r" rtl="1"/>
                      <a:r>
                        <a:rPr sz="1050" b="0">
                          <a:solidFill>
                            <a:srgbClr val="BD6B16"/>
                          </a:solidFill>
                          <a:latin typeface="Arial"/>
                        </a:rPr>
                        <a:t>بطاقة زبون، اختيار، رسائل، ومتابعة</a:t>
                      </a:r>
                    </a:p>
                  </a:txBody>
                  <a:tcPr marL="82296" marR="82296" marT="27432" marB="27432" anchor="ctr">
                    <a:solidFill>
                      <a:srgbClr val="FAF7F2"/>
                    </a:solidFill>
                  </a:tcPr>
                </a:tc>
                <a:tc>
                  <a:txBody>
                    <a:bodyPr/>
                    <a:lstStyle/>
                    <a:p>
                      <a:pPr algn="r" rtl="1"/>
                      <a:r>
                        <a:rPr sz="1050" b="0">
                          <a:solidFill>
                            <a:srgbClr val="16211C"/>
                          </a:solidFill>
                          <a:latin typeface="Arial"/>
                        </a:rPr>
                        <a:t>تعليقات متفرّقة</a:t>
                      </a:r>
                    </a:p>
                  </a:txBody>
                  <a:tcPr marL="82296" marR="82296" marT="27432" marB="27432" anchor="ctr">
                    <a:solidFill>
                      <a:srgbClr val="FAF7F2"/>
                    </a:solidFill>
                  </a:tcPr>
                </a:tc>
                <a:tc>
                  <a:txBody>
                    <a:bodyPr/>
                    <a:lstStyle/>
                    <a:p>
                      <a:pPr algn="r" rtl="1"/>
                      <a:r>
                        <a:rPr sz="1050" b="0">
                          <a:solidFill>
                            <a:srgbClr val="16211C"/>
                          </a:solidFill>
                          <a:latin typeface="Arial"/>
                        </a:rPr>
                        <a:t>نموذج بسيط</a:t>
                      </a:r>
                    </a:p>
                  </a:txBody>
                  <a:tcPr marL="82296" marR="82296" marT="27432" marB="27432" anchor="ctr">
                    <a:solidFill>
                      <a:srgbClr val="FAF7F2"/>
                    </a:solidFill>
                  </a:tcPr>
                </a:tc>
                <a:tc>
                  <a:txBody>
                    <a:bodyPr/>
                    <a:lstStyle/>
                    <a:p>
                      <a:pPr algn="r" rtl="1"/>
                      <a:r>
                        <a:rPr sz="1050" b="1">
                          <a:solidFill>
                            <a:srgbClr val="16211C"/>
                          </a:solidFill>
                          <a:latin typeface="Arial"/>
                        </a:rPr>
                        <a:t>أثر الاتصال</a:t>
                      </a:r>
                    </a:p>
                  </a:txBody>
                  <a:tcPr marL="82296" marR="82296" marT="27432" marB="27432" anchor="ctr">
                    <a:solidFill>
                      <a:srgbClr val="FAF7F2"/>
                    </a:solidFill>
                  </a:tcPr>
                </a:tc>
                <a:extLst>
                  <a:ext uri="{0D108BD9-81ED-4DB2-BD59-A6C34878D82A}">
                    <a16:rowId xmlns:a16="http://schemas.microsoft.com/office/drawing/2014/main" val="10011"/>
                  </a:ext>
                </a:extLst>
              </a:tr>
              <a:tr h="298236">
                <a:tc>
                  <a:txBody>
                    <a:bodyPr/>
                    <a:lstStyle/>
                    <a:p>
                      <a:pPr algn="r" rtl="1"/>
                      <a:r>
                        <a:rPr sz="1050" b="0">
                          <a:solidFill>
                            <a:srgbClr val="BD6B16"/>
                          </a:solidFill>
                          <a:latin typeface="Arial"/>
                        </a:rPr>
                        <a:t>من طرف الفريق، في دقائق</a:t>
                      </a:r>
                    </a:p>
                  </a:txBody>
                  <a:tcPr marL="82296" marR="82296" marT="27432" marB="27432" anchor="ctr">
                    <a:solidFill>
                      <a:srgbClr val="FFFFFF"/>
                    </a:solidFill>
                  </a:tcPr>
                </a:tc>
                <a:tc>
                  <a:txBody>
                    <a:bodyPr/>
                    <a:lstStyle/>
                    <a:p>
                      <a:pPr algn="r" rtl="1"/>
                      <a:r>
                        <a:rPr sz="1050" b="0">
                          <a:solidFill>
                            <a:srgbClr val="16211C"/>
                          </a:solidFill>
                          <a:latin typeface="Arial"/>
                        </a:rPr>
                        <a:t>منشور جديد</a:t>
                      </a:r>
                    </a:p>
                  </a:txBody>
                  <a:tcPr marL="82296" marR="82296" marT="27432" marB="27432" anchor="ctr">
                    <a:solidFill>
                      <a:srgbClr val="FFFFFF"/>
                    </a:solidFill>
                  </a:tcPr>
                </a:tc>
                <a:tc>
                  <a:txBody>
                    <a:bodyPr/>
                    <a:lstStyle/>
                    <a:p>
                      <a:pPr algn="r" rtl="1"/>
                      <a:r>
                        <a:rPr sz="1050" b="0">
                          <a:solidFill>
                            <a:srgbClr val="16211C"/>
                          </a:solidFill>
                          <a:latin typeface="Arial"/>
                        </a:rPr>
                        <a:t>عبر مزوّد خدمة</a:t>
                      </a:r>
                    </a:p>
                  </a:txBody>
                  <a:tcPr marL="82296" marR="82296" marT="27432" marB="27432" anchor="ctr">
                    <a:solidFill>
                      <a:srgbClr val="FFFFFF"/>
                    </a:solidFill>
                  </a:tcPr>
                </a:tc>
                <a:tc>
                  <a:txBody>
                    <a:bodyPr/>
                    <a:lstStyle/>
                    <a:p>
                      <a:pPr algn="r" rtl="1"/>
                      <a:r>
                        <a:rPr sz="1050" b="1">
                          <a:solidFill>
                            <a:srgbClr val="16211C"/>
                          </a:solidFill>
                          <a:latin typeface="Arial"/>
                        </a:rPr>
                        <a:t>التحديث</a:t>
                      </a:r>
                    </a:p>
                  </a:txBody>
                  <a:tcPr marL="82296" marR="82296" marT="27432" marB="27432" anchor="ctr">
                    <a:solidFill>
                      <a:srgbClr val="FFFFFF"/>
                    </a:solidFill>
                  </a:tcPr>
                </a:tc>
                <a:extLst>
                  <a:ext uri="{0D108BD9-81ED-4DB2-BD59-A6C34878D82A}">
                    <a16:rowId xmlns:a16="http://schemas.microsoft.com/office/drawing/2014/main" val="10012"/>
                  </a:ext>
                </a:extLst>
              </a:tr>
            </a:tbl>
          </a:graphicData>
        </a:graphic>
      </p:graphicFrame>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21</a:t>
            </a:r>
          </a:p>
        </p:txBody>
      </p:sp>
      <p:pic>
        <p:nvPicPr>
          <p:cNvPr id="9" name="diapo-21-eae9b35f71">
            <a:hlinkClick r:id="" action="ppaction://media"/>
            <a:extLst>
              <a:ext uri="{FF2B5EF4-FFF2-40B4-BE49-F238E27FC236}">
                <a16:creationId xmlns:a16="http://schemas.microsoft.com/office/drawing/2014/main" id="{4077939C-C5CE-4767-C7EA-738EE9AD009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4000"/>
    </mc:Choice>
    <mc:Fallback>
      <p:transition spd="slow" advTm="9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280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الذي يُكسبه، وما الذي يتطلّبه</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المكاسب المنتظرة</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يصل الزبون وهو مطّلع: فيتركّز اللقاء على قراره، لا على وصف المشروع.</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تنقّلات أقلّ بلا جدوى، في الاتجاهين: الزبون يعرف ما تبقّى، والمستشار يعرف ما نظر إليه الزبون.</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العائلات البعيدة والمغاربة المقيمون بالخارج يشاركون فعلًا في الاختيار.</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كل اتصال يترك أثرًا قابلًا للاستثمار، حتى خارج أوقات العمل.</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صورة مؤسّسة في مستوى مشاريعها، وخطاب واحد باللغات الأربع، أيًّا كان المحاور.</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22</a:t>
            </a:r>
          </a:p>
        </p:txBody>
      </p:sp>
      <p:pic>
        <p:nvPicPr>
          <p:cNvPr id="9" name="diapo-22-115a61b256">
            <a:hlinkClick r:id="" action="ppaction://media"/>
            <a:extLst>
              <a:ext uri="{FF2B5EF4-FFF2-40B4-BE49-F238E27FC236}">
                <a16:creationId xmlns:a16="http://schemas.microsoft.com/office/drawing/2014/main" id="{44C915DB-BA7D-DE97-2453-16BC646135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00"/>
    </mc:Choice>
    <mc:Fallback>
      <p:transition spd="slow" advTm="4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0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ما الذي يُكسبه، وما الذي يتطلّبه</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شروط النجاح — نقولها بوضوح</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يجب أن يبقى جدول الوحدات محيَّنًا. هذا هو الشرط الأول: موقع يعلن أنّ شقة مباعة ما تزال متاحة يضرّ بالثقة أكثر من كتيّب متقادم.</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كل مشروع جديد يتطلّب صوره 360°: نصف يوم تصوير لكل مكتب بيع ولكل شقة نموذجية.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ينبغي تعيين شخص للمصادقة على حسابات المستشارين ومتابعة الرسائل المتروكة خارج الأوقات.</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تتطلّب الشاشات ميزانية عتاد وتركيبًا في كل وكالة.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التمكّن من الأداة يستغرق ساعة إلى ساعتين لكل فريق: فالشاشات هي نفسها التي يعرفها المستشارون من جهة الزبون.</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23</a:t>
            </a:r>
          </a:p>
        </p:txBody>
      </p:sp>
      <p:pic>
        <p:nvPicPr>
          <p:cNvPr id="9" name="diapo-23-ac4b36be8f">
            <a:hlinkClick r:id="" action="ppaction://media"/>
            <a:extLst>
              <a:ext uri="{FF2B5EF4-FFF2-40B4-BE49-F238E27FC236}">
                <a16:creationId xmlns:a16="http://schemas.microsoft.com/office/drawing/2014/main" id="{12650C2C-479D-1B5D-D6BE-7B0192E91CA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400"/>
    </mc:Choice>
    <mc:Fallback>
      <p:transition spd="slow" advTm="50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2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أين وصل المشروع، بصدق</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يشتغل اليوم على الإنترنت</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400" b="0" i="0">
                <a:solidFill>
                  <a:srgbClr val="16211C"/>
                </a:solidFill>
                <a:latin typeface="Arial"/>
                <a:cs typeface="Arial"/>
              </a:rPr>
              <a:t>الموقع العمومي باللغات الأربع: 12 مشروعًا، بطاقات مفصّلة، خريطة عامة، خرائط الأحياء، ألبومات صور وفيديوهات.</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جولات 360°: المشروع، وشقة نموذجية، ومكتب البيع في إقامة الجوهرة.</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جدول التسويق: 454 وحدة، مع التصفية ومخطّطات الموقع والحالات والأثمنة.</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بطاقة معلومات الزبون مع قراءة البطاقة الوطنية، محفوظة في قاعدة البيانات، ووثائق الهوية في خزنة خارج الموقع.</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الجولة المصحوبة المباشرة بالصوت، والمضيفة الافتراضية الصوتية.</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مساحة الوكيل التجاري ولوحة الإدارة الكاملة.</a:t>
            </a:r>
          </a:p>
          <a:p>
            <a:pPr marL="236220" indent="-236220" algn="r" rtl="1">
              <a:lnSpc>
                <a:spcPct val="135000"/>
              </a:lnSpc>
              <a:spcBef>
                <a:spcPts val="1300"/>
              </a:spcBef>
              <a:buClr>
                <a:srgbClr val="BD6B16"/>
              </a:buClr>
              <a:buSzPct val="90000"/>
              <a:buFont typeface="Arial"/>
              <a:buChar char="▪"/>
            </a:pPr>
            <a:r>
              <a:rPr sz="1400" b="0" i="0">
                <a:solidFill>
                  <a:srgbClr val="16211C"/>
                </a:solidFill>
                <a:latin typeface="Arial"/>
                <a:cs typeface="Arial"/>
              </a:rPr>
              <a:t>الاستضافة على خادم خاص، مع النشر بأمر واحد ونسخة احتياطية قبل كل تعديل للمحتوى.</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24</a:t>
            </a:r>
          </a:p>
        </p:txBody>
      </p:sp>
      <p:pic>
        <p:nvPicPr>
          <p:cNvPr id="9" name="diapo-24-6c92545702">
            <a:hlinkClick r:id="" action="ppaction://media"/>
            <a:extLst>
              <a:ext uri="{FF2B5EF4-FFF2-40B4-BE49-F238E27FC236}">
                <a16:creationId xmlns:a16="http://schemas.microsoft.com/office/drawing/2014/main" id="{4D6E0B44-9602-6936-9852-AE641E54D8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00"/>
    </mc:Choice>
    <mc:Fallback>
      <p:transition spd="slow" advTm="6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05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أين وصل المشروع، بصدق</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أُنجز في الأيام الأخيرة، وجاهز للنشر</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مزامنة الرسوم والقياسات أثناء الجولة المصحوبة: ما يرسمه المستشار على الخريطة يظهر عند الزبون.</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مساحة الوكيل ولوحة الإدارة كاملةً مترجمة إلى اللغات الأربع، بما فيها العربية باتجاه الكتابة من اليمين إلى اليسار.</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25</a:t>
            </a:r>
          </a:p>
        </p:txBody>
      </p:sp>
      <p:pic>
        <p:nvPicPr>
          <p:cNvPr id="9" name="diapo-25-c3153967d7">
            <a:hlinkClick r:id="" action="ppaction://media"/>
            <a:extLst>
              <a:ext uri="{FF2B5EF4-FFF2-40B4-BE49-F238E27FC236}">
                <a16:creationId xmlns:a16="http://schemas.microsoft.com/office/drawing/2014/main" id="{F3CECA5F-F87E-F820-8F48-87ED12A2871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800"/>
    </mc:Choice>
    <mc:Fallback>
      <p:transition spd="slow" advTm="24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56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292608"/>
          </a:xfrm>
          <a:prstGeom prst="rect">
            <a:avLst/>
          </a:prstGeom>
          <a:noFill/>
        </p:spPr>
        <p:txBody>
          <a:bodyPr wrap="square" lIns="0" tIns="0" rIns="0" bIns="0">
            <a:spAutoFit/>
          </a:bodyPr>
          <a:lstStyle/>
          <a:p>
            <a:pPr algn="r" rtl="1">
              <a:lnSpc>
                <a:spcPct val="115000"/>
              </a:lnSpc>
            </a:pPr>
            <a:r>
              <a:rPr sz="1100" b="1" i="0">
                <a:solidFill>
                  <a:srgbClr val="BD6B16"/>
                </a:solidFill>
                <a:latin typeface="Arial"/>
                <a:cs typeface="Arial"/>
              </a:rPr>
              <a:t>أين وصل المشروع، بصدق</a:t>
            </a:r>
          </a:p>
        </p:txBody>
      </p:sp>
      <p:sp>
        <p:nvSpPr>
          <p:cNvPr id="4" name="TextBox 3"/>
          <p:cNvSpPr txBox="1"/>
          <p:nvPr/>
        </p:nvSpPr>
        <p:spPr>
          <a:xfrm>
            <a:off x="1874520" y="1106424"/>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ما تبقّى للقرار أو للإنجاز</a:t>
            </a:r>
          </a:p>
        </p:txBody>
      </p:sp>
      <p:sp>
        <p:nvSpPr>
          <p:cNvPr id="5" name="Rectangle 4"/>
          <p:cNvSpPr/>
          <p:nvPr/>
        </p:nvSpPr>
        <p:spPr>
          <a:xfrm>
            <a:off x="10408615"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74520" y="2075688"/>
            <a:ext cx="9539935" cy="3867912"/>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الشاشات اللمسية: اختيار العتاد والوكالات النموذجية.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جولات 360° للمشاريع الأحد عشر الأخرى، والفيديوهات الناقصة.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إيقاع تحديث جدول الوحدات، والشخص المسؤول عنه.</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26</a:t>
            </a:r>
          </a:p>
        </p:txBody>
      </p:sp>
      <p:pic>
        <p:nvPicPr>
          <p:cNvPr id="9" name="diapo-26-ae458dcfd1">
            <a:hlinkClick r:id="" action="ppaction://media"/>
            <a:extLst>
              <a:ext uri="{FF2B5EF4-FFF2-40B4-BE49-F238E27FC236}">
                <a16:creationId xmlns:a16="http://schemas.microsoft.com/office/drawing/2014/main" id="{843B8A7C-0AAC-269A-C794-44B94AC57BD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500"/>
    </mc:Choice>
    <mc:Fallback>
      <p:transition spd="slow" advTm="20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32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74520" y="685800"/>
            <a:ext cx="9539935" cy="914400"/>
          </a:xfrm>
          <a:prstGeom prst="rect">
            <a:avLst/>
          </a:prstGeom>
          <a:noFill/>
        </p:spPr>
        <p:txBody>
          <a:bodyPr wrap="square" lIns="0" tIns="0" rIns="0" bIns="0">
            <a:spAutoFit/>
          </a:bodyPr>
          <a:lstStyle/>
          <a:p>
            <a:pPr algn="r" rtl="1">
              <a:lnSpc>
                <a:spcPct val="110000"/>
              </a:lnSpc>
            </a:pPr>
            <a:r>
              <a:rPr sz="2700" b="0" i="0">
                <a:solidFill>
                  <a:srgbClr val="16211C"/>
                </a:solidFill>
                <a:latin typeface="Arial"/>
                <a:cs typeface="Arial"/>
              </a:rPr>
              <a:t>ثلاث خطوات مقبلة</a:t>
            </a:r>
          </a:p>
        </p:txBody>
      </p:sp>
      <p:sp>
        <p:nvSpPr>
          <p:cNvPr id="4" name="Rectangle 3"/>
          <p:cNvSpPr/>
          <p:nvPr/>
        </p:nvSpPr>
        <p:spPr>
          <a:xfrm>
            <a:off x="10408615"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74520" y="1655064"/>
            <a:ext cx="9539935" cy="4288536"/>
          </a:xfrm>
          <a:prstGeom prst="rect">
            <a:avLst/>
          </a:prstGeom>
          <a:noFill/>
        </p:spPr>
        <p:txBody>
          <a:bodyPr wrap="square" lIns="0" tIns="0" rIns="0" bIns="0">
            <a:spAutoFit/>
          </a:bodyPr>
          <a:lstStyle/>
          <a:p>
            <a:pPr marL="236220" indent="-236220" algn="r" rtl="1">
              <a:lnSpc>
                <a:spcPct val="135000"/>
              </a:lnSpc>
              <a:buClr>
                <a:srgbClr val="BD6B16"/>
              </a:buClr>
              <a:buSzPct val="90000"/>
              <a:buFont typeface="Arial"/>
              <a:buChar char="▪"/>
            </a:pPr>
            <a:r>
              <a:rPr sz="1600" b="0" i="0">
                <a:solidFill>
                  <a:srgbClr val="16211C"/>
                </a:solidFill>
                <a:latin typeface="Arial"/>
                <a:cs typeface="Arial"/>
              </a:rPr>
              <a:t>عرض توضيحي لمدّة ساعة في الوكالة، على حالة حقيقية: زبون يبحث عن شقة من ثلاث غرف بالدشيرة، من النقرة الأولى إلى البطاقة المملوءة.</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وكالة نموذجية مجهّزة بشاشة، ومشروع ثانٍ يُستكمل بجولة 360° لقياس الكلفة الحقيقية لكل مشروع.</a:t>
            </a:r>
          </a:p>
          <a:p>
            <a:pPr marL="236220" indent="-236220" algn="r" rtl="1">
              <a:lnSpc>
                <a:spcPct val="135000"/>
              </a:lnSpc>
              <a:spcBef>
                <a:spcPts val="1300"/>
              </a:spcBef>
              <a:buClr>
                <a:srgbClr val="BD6B16"/>
              </a:buClr>
              <a:buSzPct val="90000"/>
              <a:buFont typeface="Arial"/>
              <a:buChar char="▪"/>
            </a:pPr>
            <a:r>
              <a:rPr sz="1600" b="0" i="0">
                <a:solidFill>
                  <a:srgbClr val="16211C"/>
                </a:solidFill>
                <a:latin typeface="Arial"/>
                <a:cs typeface="Arial"/>
              </a:rPr>
              <a:t>قاعدة لتحديث جدول الوحدات — كل أسبوع، من طرف شخص مُعيَّن — ونشر ترجمات لوحة الإدارة.</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l"/>
            <a:r>
              <a:rPr sz="900">
                <a:solidFill>
                  <a:srgbClr val="6D766F"/>
                </a:solidFill>
                <a:latin typeface="Arial"/>
              </a:rPr>
              <a:t>narjiss.company   ·   27</a:t>
            </a:r>
          </a:p>
        </p:txBody>
      </p:sp>
      <p:pic>
        <p:nvPicPr>
          <p:cNvPr id="8" name="diapo-27-0050c9ad80">
            <a:hlinkClick r:id="" action="ppaction://media"/>
            <a:extLst>
              <a:ext uri="{FF2B5EF4-FFF2-40B4-BE49-F238E27FC236}">
                <a16:creationId xmlns:a16="http://schemas.microsoft.com/office/drawing/2014/main" id="{055EDC7E-19AC-183A-C09E-CB37EB70E4E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00"/>
    </mc:Choice>
    <mc:Fallback>
      <p:transition spd="slow" advTm="3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1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286000"/>
            <a:ext cx="10637215" cy="914400"/>
          </a:xfrm>
          <a:prstGeom prst="rect">
            <a:avLst/>
          </a:prstGeom>
          <a:noFill/>
        </p:spPr>
        <p:txBody>
          <a:bodyPr wrap="square" lIns="0" tIns="0" rIns="0" bIns="0">
            <a:spAutoFit/>
          </a:bodyPr>
          <a:lstStyle/>
          <a:p>
            <a:pPr algn="ctr"/>
            <a:r>
              <a:rPr sz="4400">
                <a:solidFill>
                  <a:srgbClr val="FFFFFF"/>
                </a:solidFill>
                <a:latin typeface="Arial"/>
              </a:rPr>
              <a:t>narjiss.company</a:t>
            </a:r>
          </a:p>
        </p:txBody>
      </p:sp>
      <p:sp>
        <p:nvSpPr>
          <p:cNvPr id="4" name="Rectangle 3"/>
          <p:cNvSpPr/>
          <p:nvPr/>
        </p:nvSpPr>
        <p:spPr>
          <a:xfrm>
            <a:off x="5455767" y="347472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94560" y="3931920"/>
            <a:ext cx="7802575" cy="1645920"/>
          </a:xfrm>
          <a:prstGeom prst="rect">
            <a:avLst/>
          </a:prstGeom>
          <a:noFill/>
        </p:spPr>
        <p:txBody>
          <a:bodyPr wrap="square" lIns="0" tIns="0" rIns="0" bIns="0">
            <a:spAutoFit/>
          </a:bodyPr>
          <a:lstStyle/>
          <a:p>
            <a:pPr algn="r" rtl="1">
              <a:lnSpc>
                <a:spcPct val="130000"/>
              </a:lnSpc>
            </a:pPr>
            <a:r>
              <a:rPr sz="1400">
                <a:solidFill>
                  <a:srgbClr val="C9CEC9"/>
                </a:solidFill>
                <a:latin typeface="Arial"/>
                <a:cs typeface="Arial"/>
              </a:rPr>
              <a:t>الموقع متاح للاطّلاع الآن: narjiss.company. وقائمة «عرض توضيحي» تعرض التقديم التجاري في أربعة فصول، كما يمكن لمستشار أن يقوده أمام زبون.</a:t>
            </a:r>
          </a:p>
          <a:p>
            <a:pPr algn="r" rtl="1">
              <a:lnSpc>
                <a:spcPct val="130000"/>
              </a:lnSpc>
              <a:spcBef>
                <a:spcPts val="1000"/>
              </a:spcBef>
            </a:pPr>
            <a:r>
              <a:rPr sz="1400">
                <a:solidFill>
                  <a:srgbClr val="C9CEC9"/>
                </a:solidFill>
                <a:latin typeface="Arial"/>
                <a:cs typeface="Arial"/>
              </a:rPr>
              <a:t>ويوجد ملف مصوَّر مكمّل بعنوان «ما الذي يعرف الموقع أن يفعله»، يفصّل الوظائف شاشةً شاشة.</a:t>
            </a:r>
          </a:p>
        </p:txBody>
      </p:sp>
      <p:pic>
        <p:nvPicPr>
          <p:cNvPr id="6" name="diapo-28-556271bc20">
            <a:hlinkClick r:id="" action="ppaction://media"/>
            <a:extLst>
              <a:ext uri="{FF2B5EF4-FFF2-40B4-BE49-F238E27FC236}">
                <a16:creationId xmlns:a16="http://schemas.microsoft.com/office/drawing/2014/main" id="{14CE9430-7AA3-BC52-B9CC-CB72F56B3D9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700"/>
    </mc:Choice>
    <mc:Fallback>
      <p:transition spd="slow" advTm="2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51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4516</Words>
  <Application>Microsoft Office PowerPoint</Application>
  <PresentationFormat>Grand écran</PresentationFormat>
  <Paragraphs>238</Paragraphs>
  <Slides>28</Slides>
  <Notes>28</Notes>
  <HiddenSlides>0</HiddenSlides>
  <MMClips>28</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28</vt:i4>
      </vt:variant>
    </vt:vector>
  </HeadingPairs>
  <TitlesOfParts>
    <vt:vector size="31"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Mohamed Oulmouden</cp:lastModifiedBy>
  <cp:revision>2</cp:revision>
  <dcterms:created xsi:type="dcterms:W3CDTF">2013-01-27T09:14:16Z</dcterms:created>
  <dcterms:modified xsi:type="dcterms:W3CDTF">2026-08-24T17:52:22Z</dcterms:modified>
  <cp:category/>
</cp:coreProperties>
</file>